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ailsahayak_logo.png"/>
          <p:cNvPicPr>
            <a:picLocks noChangeAspect="1"/>
          </p:cNvPicPr>
          <p:nvPr/>
        </p:nvPicPr>
        <p:blipFill>
          <a:blip r:embed="rId2"/>
          <a:stretch>
            <a:fillRect/>
          </a:stretch>
        </p:blipFill>
        <p:spPr>
          <a:xfrm>
            <a:off x="731520" y="548640"/>
            <a:ext cx="502920" cy="502920"/>
          </a:xfrm>
          <a:prstGeom prst="rect">
            <a:avLst/>
          </a:prstGeom>
        </p:spPr>
      </p:pic>
      <p:sp>
        <p:nvSpPr>
          <p:cNvPr id="4" name="TextBox 3"/>
          <p:cNvSpPr txBox="1"/>
          <p:nvPr/>
        </p:nvSpPr>
        <p:spPr>
          <a:xfrm>
            <a:off x="1325880" y="594360"/>
            <a:ext cx="4114800" cy="365760"/>
          </a:xfrm>
          <a:prstGeom prst="rect">
            <a:avLst/>
          </a:prstGeom>
          <a:noFill/>
        </p:spPr>
        <p:txBody>
          <a:bodyPr wrap="none">
            <a:spAutoFit/>
          </a:bodyPr>
          <a:lstStyle/>
          <a:p>
            <a:pPr>
              <a:defRPr sz="1100" b="1">
                <a:solidFill>
                  <a:srgbClr val="0F2C59"/>
                </a:solidFill>
                <a:latin typeface="Arial"/>
              </a:defRPr>
            </a:pPr>
            <a:r>
              <a:t>RailSahayak | Independent Technical Exploration</a:t>
            </a:r>
          </a:p>
        </p:txBody>
      </p:sp>
      <p:sp>
        <p:nvSpPr>
          <p:cNvPr id="5" name="Rounded Rectangle 4"/>
          <p:cNvSpPr/>
          <p:nvPr/>
        </p:nvSpPr>
        <p:spPr>
          <a:xfrm>
            <a:off x="731520" y="1234440"/>
            <a:ext cx="4206240" cy="347472"/>
          </a:xfrm>
          <a:prstGeom prst="roundRect">
            <a:avLst/>
          </a:prstGeom>
          <a:solidFill>
            <a:srgbClr val="EBF5FA"/>
          </a:solidFill>
          <a:ln>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F2C59"/>
                </a:solidFill>
                <a:latin typeface="Arial"/>
              </a:defRPr>
            </a:pPr>
            <a:r>
              <a:t>INDEPENDENT TECHNICAL PROPOSAL | OCTOBER 2026</a:t>
            </a:r>
          </a:p>
        </p:txBody>
      </p:sp>
      <p:sp>
        <p:nvSpPr>
          <p:cNvPr id="6" name="TextBox 5"/>
          <p:cNvSpPr txBox="1"/>
          <p:nvPr/>
        </p:nvSpPr>
        <p:spPr>
          <a:xfrm>
            <a:off x="731520" y="1691640"/>
            <a:ext cx="5120640" cy="868680"/>
          </a:xfrm>
          <a:prstGeom prst="rect">
            <a:avLst/>
          </a:prstGeom>
          <a:noFill/>
        </p:spPr>
        <p:txBody>
          <a:bodyPr wrap="none">
            <a:spAutoFit/>
          </a:bodyPr>
          <a:lstStyle/>
          <a:p>
            <a:pPr>
              <a:defRPr sz="4600" b="1">
                <a:solidFill>
                  <a:srgbClr val="0F2C59"/>
                </a:solidFill>
                <a:latin typeface="Arial"/>
              </a:defRPr>
            </a:pPr>
            <a:r>
              <a:t>RailSahayak</a:t>
            </a:r>
          </a:p>
        </p:txBody>
      </p:sp>
      <p:sp>
        <p:nvSpPr>
          <p:cNvPr id="7" name="TextBox 6"/>
          <p:cNvSpPr txBox="1"/>
          <p:nvPr/>
        </p:nvSpPr>
        <p:spPr>
          <a:xfrm>
            <a:off x="731520" y="2560320"/>
            <a:ext cx="5120640" cy="594360"/>
          </a:xfrm>
          <a:prstGeom prst="rect">
            <a:avLst/>
          </a:prstGeom>
          <a:noFill/>
        </p:spPr>
        <p:txBody>
          <a:bodyPr wrap="square">
            <a:spAutoFit/>
          </a:bodyPr>
          <a:lstStyle/>
          <a:p>
            <a:pPr>
              <a:defRPr sz="1400" b="1">
                <a:solidFill>
                  <a:srgbClr val="1D6394"/>
                </a:solidFill>
                <a:latin typeface="Arial"/>
              </a:defRPr>
            </a:pPr>
            <a:r>
              <a:t>PASSENGER ASSISTANCE &amp; RAILWAY SERVICE SUPPORT PROPOSAL</a:t>
            </a:r>
          </a:p>
        </p:txBody>
      </p:sp>
      <p:sp>
        <p:nvSpPr>
          <p:cNvPr id="8" name="TextBox 7"/>
          <p:cNvSpPr txBox="1"/>
          <p:nvPr/>
        </p:nvSpPr>
        <p:spPr>
          <a:xfrm>
            <a:off x="731520" y="3154680"/>
            <a:ext cx="5120640" cy="594360"/>
          </a:xfrm>
          <a:prstGeom prst="rect">
            <a:avLst/>
          </a:prstGeom>
          <a:noFill/>
        </p:spPr>
        <p:txBody>
          <a:bodyPr wrap="square">
            <a:spAutoFit/>
          </a:bodyPr>
          <a:lstStyle/>
          <a:p>
            <a:pPr>
              <a:defRPr sz="1200">
                <a:solidFill>
                  <a:srgbClr val="1E293B"/>
                </a:solidFill>
                <a:latin typeface="Arial"/>
              </a:defRPr>
            </a:pPr>
            <a:r>
              <a:t>An Independent Prototype for Clearer Passenger Guidance and Structured Service Support</a:t>
            </a:r>
          </a:p>
        </p:txBody>
      </p:sp>
      <p:sp>
        <p:nvSpPr>
          <p:cNvPr id="9" name="Rectangle 8"/>
          <p:cNvSpPr/>
          <p:nvPr/>
        </p:nvSpPr>
        <p:spPr>
          <a:xfrm>
            <a:off x="731520" y="3794760"/>
            <a:ext cx="5120640" cy="25400"/>
          </a:xfrm>
          <a:prstGeom prst="rect">
            <a:avLst/>
          </a:prstGeom>
          <a:solidFill>
            <a:srgbClr val="2B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931920"/>
            <a:ext cx="5120640" cy="914400"/>
          </a:xfrm>
          <a:prstGeom prst="rect">
            <a:avLst/>
          </a:prstGeom>
          <a:noFill/>
        </p:spPr>
        <p:txBody>
          <a:bodyPr wrap="square">
            <a:spAutoFit/>
          </a:bodyPr>
          <a:lstStyle/>
          <a:p>
            <a:pPr>
              <a:defRPr sz="1100">
                <a:solidFill>
                  <a:srgbClr val="526071"/>
                </a:solidFill>
                <a:latin typeface="Arial"/>
              </a:defRPr>
            </a:pPr>
            <a:r>
              <a:t>A technology concept designed to help passengers understand next steps for selected railway journey, payment, reservation-guidance, and complaint-tracking scenarios.</a:t>
            </a:r>
          </a:p>
        </p:txBody>
      </p:sp>
      <p:sp>
        <p:nvSpPr>
          <p:cNvPr id="11" name="Rounded Rectangle 10"/>
          <p:cNvSpPr/>
          <p:nvPr/>
        </p:nvSpPr>
        <p:spPr>
          <a:xfrm>
            <a:off x="731520" y="4983480"/>
            <a:ext cx="5120640" cy="1143000"/>
          </a:xfrm>
          <a:prstGeom prst="roundRect">
            <a:avLst/>
          </a:prstGeom>
          <a:solidFill>
            <a:srgbClr val="DDF0F5"/>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F2C59"/>
                </a:solidFill>
                <a:latin typeface="Arial"/>
              </a:defRPr>
            </a:pPr>
            <a:r>
              <a:t>INDEPENDENT TECHNICAL PROPOSAL</a:t>
            </a:r>
          </a:p>
          <a:p>
            <a:pPr>
              <a:defRPr sz="850">
                <a:solidFill>
                  <a:srgbClr val="1E293B"/>
                </a:solidFill>
                <a:latin typeface="Arial"/>
              </a:defRPr>
            </a:pPr>
            <a:r>
              <a:t>Demonstrates local advisory capabilities only. Does not connect to live Indian Railways, IRCTC, or CRIS production systems. No transactional authority claimed.</a:t>
            </a:r>
          </a:p>
        </p:txBody>
      </p:sp>
      <p:sp>
        <p:nvSpPr>
          <p:cNvPr id="12" name="Rounded Rectangle 11"/>
          <p:cNvSpPr/>
          <p:nvPr/>
        </p:nvSpPr>
        <p:spPr>
          <a:xfrm>
            <a:off x="6126480" y="731520"/>
            <a:ext cx="5333695" cy="539496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ailway_cover_train.jpg"/>
          <p:cNvPicPr>
            <a:picLocks noChangeAspect="1"/>
          </p:cNvPicPr>
          <p:nvPr/>
        </p:nvPicPr>
        <p:blipFill>
          <a:blip r:embed="rId3"/>
          <a:stretch>
            <a:fillRect/>
          </a:stretch>
        </p:blipFill>
        <p:spPr>
          <a:xfrm>
            <a:off x="6309360" y="914400"/>
            <a:ext cx="4967935" cy="4663440"/>
          </a:xfrm>
          <a:prstGeom prst="rect">
            <a:avLst/>
          </a:prstGeom>
        </p:spPr>
      </p:pic>
      <p:sp>
        <p:nvSpPr>
          <p:cNvPr id="14" name="TextBox 13"/>
          <p:cNvSpPr txBox="1"/>
          <p:nvPr/>
        </p:nvSpPr>
        <p:spPr>
          <a:xfrm>
            <a:off x="6309360" y="5623560"/>
            <a:ext cx="4967935" cy="365760"/>
          </a:xfrm>
          <a:prstGeom prst="rect">
            <a:avLst/>
          </a:prstGeom>
          <a:noFill/>
        </p:spPr>
        <p:txBody>
          <a:bodyPr wrap="none">
            <a:spAutoFit/>
          </a:bodyPr>
          <a:lstStyle/>
          <a:p>
            <a:pPr algn="ctr">
              <a:defRPr sz="850" b="1">
                <a:solidFill>
                  <a:srgbClr val="0F2C59"/>
                </a:solidFill>
                <a:latin typeface="Arial"/>
              </a:defRPr>
            </a:pPr>
            <a:r>
              <a:t>Modern Indian Passenger Train  |  Concept for Clearer Journey Guidance</a:t>
            </a:r>
          </a:p>
        </p:txBody>
      </p:sp>
      <p:sp>
        <p:nvSpPr>
          <p:cNvPr id="15" name="TextBox 14"/>
          <p:cNvSpPr txBox="1"/>
          <p:nvPr/>
        </p:nvSpPr>
        <p:spPr>
          <a:xfrm>
            <a:off x="731520" y="6492240"/>
            <a:ext cx="10728655" cy="274320"/>
          </a:xfrm>
          <a:prstGeom prst="rect">
            <a:avLst/>
          </a:prstGeom>
          <a:noFill/>
        </p:spPr>
        <p:txBody>
          <a:bodyPr wrap="none">
            <a:spAutoFit/>
          </a:bodyPr>
          <a:lstStyle/>
          <a:p>
            <a:pPr>
              <a:defRPr sz="800">
                <a:solidFill>
                  <a:srgbClr val="526071"/>
                </a:solidFill>
                <a:latin typeface="Arial"/>
              </a:defRPr>
            </a:pPr>
            <a:r>
              <a:t>Independent technical exploration prototype  |  October 2026  |  No official endorsement claimed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ailsahayak_logo.png"/>
          <p:cNvPicPr>
            <a:picLocks noChangeAspect="1"/>
          </p:cNvPicPr>
          <p:nvPr/>
        </p:nvPicPr>
        <p:blipFill>
          <a:blip r:embed="rId2"/>
          <a:stretch>
            <a:fillRect/>
          </a:stretch>
        </p:blipFill>
        <p:spPr>
          <a:xfrm>
            <a:off x="731520" y="320040"/>
            <a:ext cx="365760" cy="365760"/>
          </a:xfrm>
          <a:prstGeom prst="rect">
            <a:avLst/>
          </a:prstGeom>
        </p:spPr>
      </p:pic>
      <p:sp>
        <p:nvSpPr>
          <p:cNvPr id="4" name="TextBox 3"/>
          <p:cNvSpPr txBox="1"/>
          <p:nvPr/>
        </p:nvSpPr>
        <p:spPr>
          <a:xfrm>
            <a:off x="1170432" y="329184"/>
            <a:ext cx="5486400" cy="347472"/>
          </a:xfrm>
          <a:prstGeom prst="rect">
            <a:avLst/>
          </a:prstGeom>
          <a:noFill/>
        </p:spPr>
        <p:txBody>
          <a:bodyPr wrap="square">
            <a:spAutoFit/>
          </a:bodyPr>
          <a:lstStyle/>
          <a:p>
            <a:pPr>
              <a:defRPr sz="1000" b="1">
                <a:solidFill>
                  <a:srgbClr val="1D6394"/>
                </a:solidFill>
                <a:latin typeface="Arial"/>
              </a:defRPr>
            </a:pPr>
            <a:r>
              <a:t>RailSahayak  |  Context &amp; Journey Touchpoints</a:t>
            </a:r>
          </a:p>
        </p:txBody>
      </p:sp>
      <p:sp>
        <p:nvSpPr>
          <p:cNvPr id="5" name="Rounded Rectangle 4"/>
          <p:cNvSpPr/>
          <p:nvPr/>
        </p:nvSpPr>
        <p:spPr>
          <a:xfrm>
            <a:off x="8961120" y="310896"/>
            <a:ext cx="2499055" cy="347472"/>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F2C59"/>
                </a:solidFill>
                <a:latin typeface="Arial"/>
              </a:defRPr>
            </a:pPr>
            <a:r>
              <a:t>OPPORTUNITY FRAMEWORK</a:t>
            </a:r>
          </a:p>
        </p:txBody>
      </p:sp>
      <p:sp>
        <p:nvSpPr>
          <p:cNvPr id="6" name="Rectangle 5"/>
          <p:cNvSpPr/>
          <p:nvPr/>
        </p:nvSpPr>
        <p:spPr>
          <a:xfrm>
            <a:off x="731520" y="6446520"/>
            <a:ext cx="10728655" cy="12700"/>
          </a:xfrm>
          <a:prstGeom prst="rect">
            <a:avLst/>
          </a:prstGeom>
          <a:solidFill>
            <a:srgbClr val="C8D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6858000" cy="274320"/>
          </a:xfrm>
          <a:prstGeom prst="rect">
            <a:avLst/>
          </a:prstGeom>
          <a:noFill/>
        </p:spPr>
        <p:txBody>
          <a:bodyPr wrap="none">
            <a:spAutoFit/>
          </a:bodyPr>
          <a:lstStyle/>
          <a:p>
            <a:pPr>
              <a:defRPr sz="800">
                <a:solidFill>
                  <a:srgbClr val="526071"/>
                </a:solidFill>
                <a:latin typeface="Arial"/>
              </a:defRPr>
            </a:pPr>
            <a:r>
              <a:t>INDEPENDENT TECHNICAL PROPOSAL | NOT AN OFFICIAL IRCTC/CRIS/INDIAN RAILWAYS RELEASE</a:t>
            </a:r>
          </a:p>
        </p:txBody>
      </p:sp>
      <p:sp>
        <p:nvSpPr>
          <p:cNvPr id="8" name="TextBox 7"/>
          <p:cNvSpPr txBox="1"/>
          <p:nvPr/>
        </p:nvSpPr>
        <p:spPr>
          <a:xfrm>
            <a:off x="8716975" y="6492240"/>
            <a:ext cx="2743200" cy="274320"/>
          </a:xfrm>
          <a:prstGeom prst="rect">
            <a:avLst/>
          </a:prstGeom>
          <a:noFill/>
        </p:spPr>
        <p:txBody>
          <a:bodyPr wrap="none">
            <a:spAutoFit/>
          </a:bodyPr>
          <a:lstStyle/>
          <a:p>
            <a:pPr algn="r">
              <a:defRPr sz="850" b="1">
                <a:solidFill>
                  <a:srgbClr val="0F2C59"/>
                </a:solidFill>
                <a:latin typeface="Arial"/>
              </a:defRPr>
            </a:pPr>
            <a:r>
              <a:t>Page 2 of 11</a:t>
            </a:r>
          </a:p>
        </p:txBody>
      </p:sp>
      <p:sp>
        <p:nvSpPr>
          <p:cNvPr id="9" name="TextBox 8"/>
          <p:cNvSpPr txBox="1"/>
          <p:nvPr/>
        </p:nvSpPr>
        <p:spPr>
          <a:xfrm>
            <a:off x="731520" y="868680"/>
            <a:ext cx="5303520" cy="411480"/>
          </a:xfrm>
          <a:prstGeom prst="rect">
            <a:avLst/>
          </a:prstGeom>
          <a:noFill/>
        </p:spPr>
        <p:txBody>
          <a:bodyPr wrap="none">
            <a:spAutoFit/>
          </a:bodyPr>
          <a:lstStyle/>
          <a:p>
            <a:pPr>
              <a:defRPr sz="2200" b="1">
                <a:solidFill>
                  <a:srgbClr val="0F2C59"/>
                </a:solidFill>
                <a:latin typeface="Arial"/>
              </a:defRPr>
            </a:pPr>
            <a:r>
              <a:t>PASSENGER NEEDS &amp; OPPORTUNITY</a:t>
            </a:r>
          </a:p>
        </p:txBody>
      </p:sp>
      <p:sp>
        <p:nvSpPr>
          <p:cNvPr id="10" name="TextBox 9"/>
          <p:cNvSpPr txBox="1"/>
          <p:nvPr/>
        </p:nvSpPr>
        <p:spPr>
          <a:xfrm>
            <a:off x="731520" y="1280160"/>
            <a:ext cx="5303520" cy="548640"/>
          </a:xfrm>
          <a:prstGeom prst="rect">
            <a:avLst/>
          </a:prstGeom>
          <a:noFill/>
        </p:spPr>
        <p:txBody>
          <a:bodyPr wrap="square">
            <a:spAutoFit/>
          </a:bodyPr>
          <a:lstStyle/>
          <a:p>
            <a:pPr>
              <a:defRPr sz="1000">
                <a:solidFill>
                  <a:srgbClr val="1E293B"/>
                </a:solidFill>
                <a:latin typeface="Arial"/>
              </a:defRPr>
            </a:pPr>
            <a:r>
              <a:t>Railway journeys involve multiple decisions before travel, during booking, and when unexpected issues occur. RailSahayak explores whether clearer, structured guidance can help passengers identify appropriate next steps.</a:t>
            </a:r>
          </a:p>
        </p:txBody>
      </p:sp>
      <p:sp>
        <p:nvSpPr>
          <p:cNvPr id="11" name="Rounded Rectangle 10"/>
          <p:cNvSpPr/>
          <p:nvPr/>
        </p:nvSpPr>
        <p:spPr>
          <a:xfrm>
            <a:off x="731520" y="1874519"/>
            <a:ext cx="5303520" cy="77724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2C59"/>
                </a:solidFill>
                <a:latin typeface="Arial"/>
              </a:defRPr>
            </a:pPr>
            <a:r>
              <a:t>01  BEFORE TRAVEL — Route and Reservation Guidance</a:t>
            </a:r>
          </a:p>
          <a:p>
            <a:pPr>
              <a:defRPr sz="850">
                <a:solidFill>
                  <a:srgbClr val="1E293B"/>
                </a:solidFill>
                <a:latin typeface="Arial"/>
              </a:defRPr>
            </a:pPr>
            <a:r>
              <a:t>Passengers may need help understanding station codes, route options, quota terminology, reservation status, and official information sources.</a:t>
            </a:r>
          </a:p>
        </p:txBody>
      </p:sp>
      <p:sp>
        <p:nvSpPr>
          <p:cNvPr id="12" name="Rounded Rectangle 11"/>
          <p:cNvSpPr/>
          <p:nvPr/>
        </p:nvSpPr>
        <p:spPr>
          <a:xfrm>
            <a:off x="731520" y="2743200"/>
            <a:ext cx="5303520" cy="77724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2C59"/>
                </a:solidFill>
                <a:latin typeface="Arial"/>
              </a:defRPr>
            </a:pPr>
            <a:r>
              <a:t>02  WHEN A PAYMENT FAILS — Understand the Next Step</a:t>
            </a:r>
          </a:p>
          <a:p>
            <a:pPr>
              <a:defRPr sz="850">
                <a:solidFill>
                  <a:srgbClr val="1E293B"/>
                </a:solidFill>
                <a:latin typeface="Arial"/>
              </a:defRPr>
            </a:pPr>
            <a:r>
              <a:t>A payment debit without a generated ticket can leave a passenger uncertain about transaction status, refund procedures, and whether to contact the bank or booking platform.</a:t>
            </a:r>
          </a:p>
        </p:txBody>
      </p:sp>
      <p:sp>
        <p:nvSpPr>
          <p:cNvPr id="13" name="Rounded Rectangle 12"/>
          <p:cNvSpPr/>
          <p:nvPr/>
        </p:nvSpPr>
        <p:spPr>
          <a:xfrm>
            <a:off x="731520" y="3611880"/>
            <a:ext cx="5303520" cy="77724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2C59"/>
                </a:solidFill>
                <a:latin typeface="Arial"/>
              </a:defRPr>
            </a:pPr>
            <a:r>
              <a:t>03  RESERVATION &amp; JOURNEY STATUS — Understand the Applicable Rules</a:t>
            </a:r>
          </a:p>
          <a:p>
            <a:pPr>
              <a:defRPr sz="850">
                <a:solidFill>
                  <a:srgbClr val="1E293B"/>
                </a:solidFill>
                <a:latin typeface="Arial"/>
              </a:defRPr>
            </a:pPr>
            <a:r>
              <a:t>Passengers may need clear explanations of waitlist status, charting, ticket category, and the limits of the information shown by an independent advisory tool.</a:t>
            </a:r>
          </a:p>
        </p:txBody>
      </p:sp>
      <p:sp>
        <p:nvSpPr>
          <p:cNvPr id="14" name="Rounded Rectangle 13"/>
          <p:cNvSpPr/>
          <p:nvPr/>
        </p:nvSpPr>
        <p:spPr>
          <a:xfrm>
            <a:off x="731520" y="4480560"/>
            <a:ext cx="5303520" cy="77724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2C59"/>
                </a:solidFill>
                <a:latin typeface="Arial"/>
              </a:defRPr>
            </a:pPr>
            <a:r>
              <a:t>04  AFTER AN INCIDENT — Find the Appropriate Support Channel</a:t>
            </a:r>
          </a:p>
          <a:p>
            <a:pPr>
              <a:defRPr sz="850">
                <a:solidFill>
                  <a:srgbClr val="1E293B"/>
                </a:solidFill>
                <a:latin typeface="Arial"/>
              </a:defRPr>
            </a:pPr>
            <a:r>
              <a:t>Passengers may need assistance identifying the relevant official channel for a commercial, payment, operational, or safety-related concern.</a:t>
            </a:r>
          </a:p>
        </p:txBody>
      </p:sp>
      <p:sp>
        <p:nvSpPr>
          <p:cNvPr id="15" name="Rounded Rectangle 14"/>
          <p:cNvSpPr/>
          <p:nvPr/>
        </p:nvSpPr>
        <p:spPr>
          <a:xfrm>
            <a:off x="731520" y="5440680"/>
            <a:ext cx="5303520" cy="594360"/>
          </a:xfrm>
          <a:prstGeom prst="roundRect">
            <a:avLst/>
          </a:prstGeom>
          <a:solidFill>
            <a:srgbClr val="DDF0F5"/>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2C59"/>
                </a:solidFill>
                <a:latin typeface="Arial"/>
              </a:defRPr>
            </a:pPr>
            <a:r>
              <a:t>Opportunity: Make procedural guidance easier to understand without replacing official railway systems.</a:t>
            </a:r>
          </a:p>
        </p:txBody>
      </p:sp>
      <p:sp>
        <p:nvSpPr>
          <p:cNvPr id="16" name="Rounded Rectangle 15"/>
          <p:cNvSpPr/>
          <p:nvPr/>
        </p:nvSpPr>
        <p:spPr>
          <a:xfrm>
            <a:off x="6309360" y="868680"/>
            <a:ext cx="5150815" cy="5257800"/>
          </a:xfrm>
          <a:prstGeom prst="roundRect">
            <a:avLst/>
          </a:prstGeom>
          <a:solidFill>
            <a:srgbClr val="F4F9FC"/>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ailway_platform_vertical.jpg"/>
          <p:cNvPicPr>
            <a:picLocks noChangeAspect="1"/>
          </p:cNvPicPr>
          <p:nvPr/>
        </p:nvPicPr>
        <p:blipFill>
          <a:blip r:embed="rId3"/>
          <a:stretch>
            <a:fillRect/>
          </a:stretch>
        </p:blipFill>
        <p:spPr>
          <a:xfrm>
            <a:off x="6492240" y="1051560"/>
            <a:ext cx="4785055" cy="4572000"/>
          </a:xfrm>
          <a:prstGeom prst="rect">
            <a:avLst/>
          </a:prstGeom>
        </p:spPr>
      </p:pic>
      <p:sp>
        <p:nvSpPr>
          <p:cNvPr id="18" name="TextBox 17"/>
          <p:cNvSpPr txBox="1"/>
          <p:nvPr/>
        </p:nvSpPr>
        <p:spPr>
          <a:xfrm>
            <a:off x="6492240" y="5715000"/>
            <a:ext cx="4785055" cy="320040"/>
          </a:xfrm>
          <a:prstGeom prst="rect">
            <a:avLst/>
          </a:prstGeom>
          <a:noFill/>
        </p:spPr>
        <p:txBody>
          <a:bodyPr wrap="none">
            <a:spAutoFit/>
          </a:bodyPr>
          <a:lstStyle/>
          <a:p>
            <a:pPr algn="ctr">
              <a:defRPr sz="850" b="1">
                <a:solidFill>
                  <a:srgbClr val="0F2C59"/>
                </a:solidFill>
                <a:latin typeface="Arial"/>
              </a:defRPr>
            </a:pPr>
            <a:r>
              <a:t>Indian Railways Platform  |  Point of passenger journey coordination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ailsahayak_logo.png"/>
          <p:cNvPicPr>
            <a:picLocks noChangeAspect="1"/>
          </p:cNvPicPr>
          <p:nvPr/>
        </p:nvPicPr>
        <p:blipFill>
          <a:blip r:embed="rId2"/>
          <a:stretch>
            <a:fillRect/>
          </a:stretch>
        </p:blipFill>
        <p:spPr>
          <a:xfrm>
            <a:off x="731520" y="320040"/>
            <a:ext cx="365760" cy="365760"/>
          </a:xfrm>
          <a:prstGeom prst="rect">
            <a:avLst/>
          </a:prstGeom>
        </p:spPr>
      </p:pic>
      <p:sp>
        <p:nvSpPr>
          <p:cNvPr id="4" name="TextBox 3"/>
          <p:cNvSpPr txBox="1"/>
          <p:nvPr/>
        </p:nvSpPr>
        <p:spPr>
          <a:xfrm>
            <a:off x="1170432" y="329184"/>
            <a:ext cx="5486400" cy="347472"/>
          </a:xfrm>
          <a:prstGeom prst="rect">
            <a:avLst/>
          </a:prstGeom>
          <a:noFill/>
        </p:spPr>
        <p:txBody>
          <a:bodyPr wrap="square">
            <a:spAutoFit/>
          </a:bodyPr>
          <a:lstStyle/>
          <a:p>
            <a:pPr>
              <a:defRPr sz="1000" b="1">
                <a:solidFill>
                  <a:srgbClr val="1D6394"/>
                </a:solidFill>
                <a:latin typeface="Arial"/>
              </a:defRPr>
            </a:pPr>
            <a:r>
              <a:t>RailSahayak  |  Problem Context &amp; Analysis</a:t>
            </a:r>
          </a:p>
        </p:txBody>
      </p:sp>
      <p:sp>
        <p:nvSpPr>
          <p:cNvPr id="5" name="Rounded Rectangle 4"/>
          <p:cNvSpPr/>
          <p:nvPr/>
        </p:nvSpPr>
        <p:spPr>
          <a:xfrm>
            <a:off x="8961120" y="310896"/>
            <a:ext cx="2499055" cy="347472"/>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F2C59"/>
                </a:solidFill>
                <a:latin typeface="Arial"/>
              </a:defRPr>
            </a:pPr>
            <a:r>
              <a:t>CHALLENGE ANALYSIS</a:t>
            </a:r>
          </a:p>
        </p:txBody>
      </p:sp>
      <p:sp>
        <p:nvSpPr>
          <p:cNvPr id="6" name="Rectangle 5"/>
          <p:cNvSpPr/>
          <p:nvPr/>
        </p:nvSpPr>
        <p:spPr>
          <a:xfrm>
            <a:off x="731520" y="6446520"/>
            <a:ext cx="10728655" cy="12700"/>
          </a:xfrm>
          <a:prstGeom prst="rect">
            <a:avLst/>
          </a:prstGeom>
          <a:solidFill>
            <a:srgbClr val="C8D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6858000" cy="274320"/>
          </a:xfrm>
          <a:prstGeom prst="rect">
            <a:avLst/>
          </a:prstGeom>
          <a:noFill/>
        </p:spPr>
        <p:txBody>
          <a:bodyPr wrap="none">
            <a:spAutoFit/>
          </a:bodyPr>
          <a:lstStyle/>
          <a:p>
            <a:pPr>
              <a:defRPr sz="800">
                <a:solidFill>
                  <a:srgbClr val="526071"/>
                </a:solidFill>
                <a:latin typeface="Arial"/>
              </a:defRPr>
            </a:pPr>
            <a:r>
              <a:t>INDEPENDENT TECHNICAL PROPOSAL | NOT AN OFFICIAL IRCTC/CRIS/INDIAN RAILWAYS RELEASE</a:t>
            </a:r>
          </a:p>
        </p:txBody>
      </p:sp>
      <p:sp>
        <p:nvSpPr>
          <p:cNvPr id="8" name="TextBox 7"/>
          <p:cNvSpPr txBox="1"/>
          <p:nvPr/>
        </p:nvSpPr>
        <p:spPr>
          <a:xfrm>
            <a:off x="8716975" y="6492240"/>
            <a:ext cx="2743200" cy="274320"/>
          </a:xfrm>
          <a:prstGeom prst="rect">
            <a:avLst/>
          </a:prstGeom>
          <a:noFill/>
        </p:spPr>
        <p:txBody>
          <a:bodyPr wrap="none">
            <a:spAutoFit/>
          </a:bodyPr>
          <a:lstStyle/>
          <a:p>
            <a:pPr algn="r">
              <a:defRPr sz="850" b="1">
                <a:solidFill>
                  <a:srgbClr val="0F2C59"/>
                </a:solidFill>
                <a:latin typeface="Arial"/>
              </a:defRPr>
            </a:pPr>
            <a:r>
              <a:t>Page 3 of 11</a:t>
            </a:r>
          </a:p>
        </p:txBody>
      </p:sp>
      <p:sp>
        <p:nvSpPr>
          <p:cNvPr id="9" name="TextBox 8"/>
          <p:cNvSpPr txBox="1"/>
          <p:nvPr/>
        </p:nvSpPr>
        <p:spPr>
          <a:xfrm>
            <a:off x="731520" y="960120"/>
            <a:ext cx="4937760" cy="457200"/>
          </a:xfrm>
          <a:prstGeom prst="rect">
            <a:avLst/>
          </a:prstGeom>
          <a:noFill/>
        </p:spPr>
        <p:txBody>
          <a:bodyPr wrap="none">
            <a:spAutoFit/>
          </a:bodyPr>
          <a:lstStyle/>
          <a:p>
            <a:pPr>
              <a:defRPr sz="2400" b="1">
                <a:solidFill>
                  <a:srgbClr val="0F2C59"/>
                </a:solidFill>
                <a:latin typeface="Arial"/>
              </a:defRPr>
            </a:pPr>
            <a:r>
              <a:t>THE PROBLEM STATEMENT</a:t>
            </a:r>
          </a:p>
        </p:txBody>
      </p:sp>
      <p:sp>
        <p:nvSpPr>
          <p:cNvPr id="10" name="TextBox 9"/>
          <p:cNvSpPr txBox="1"/>
          <p:nvPr/>
        </p:nvSpPr>
        <p:spPr>
          <a:xfrm>
            <a:off x="731520" y="1508760"/>
            <a:ext cx="4937760" cy="1097280"/>
          </a:xfrm>
          <a:prstGeom prst="rect">
            <a:avLst/>
          </a:prstGeom>
          <a:noFill/>
        </p:spPr>
        <p:txBody>
          <a:bodyPr wrap="square">
            <a:spAutoFit/>
          </a:bodyPr>
          <a:lstStyle/>
          <a:p>
            <a:pPr>
              <a:defRPr sz="1150">
                <a:solidFill>
                  <a:srgbClr val="1E293B"/>
                </a:solidFill>
                <a:latin typeface="Arial"/>
              </a:defRPr>
            </a:pPr>
            <a:r>
              <a:t>Passengers can face uncertainty when the next step depends on the type of ticket, transaction state, railway rule, or responsible service channel. The proposed focus of RailSahayak is to organize these questions into clearer guidance and structured next steps.</a:t>
            </a:r>
          </a:p>
        </p:txBody>
      </p:sp>
      <p:sp>
        <p:nvSpPr>
          <p:cNvPr id="11" name="Rounded Rectangle 10"/>
          <p:cNvSpPr/>
          <p:nvPr/>
        </p:nvSpPr>
        <p:spPr>
          <a:xfrm>
            <a:off x="731520" y="2788920"/>
            <a:ext cx="4937760" cy="201168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2C59"/>
                </a:solidFill>
                <a:latin typeface="Arial"/>
              </a:defRPr>
            </a:pPr>
            <a:r>
              <a:t>PASSENGER SUPPORT REALITY</a:t>
            </a:r>
          </a:p>
          <a:p>
            <a:pPr>
              <a:defRPr sz="950">
                <a:solidFill>
                  <a:srgbClr val="1E293B"/>
                </a:solidFill>
                <a:latin typeface="Arial"/>
              </a:defRPr>
            </a:pPr>
            <a:r>
              <a:t>Payment issues, reservation questions, and operational disruptions can leave passengers uncertain about the appropriate next step. The frequency and impact of these situations should be established through reliable evidence or a future authorized evaluation.</a:t>
            </a:r>
          </a:p>
        </p:txBody>
      </p:sp>
      <p:sp>
        <p:nvSpPr>
          <p:cNvPr id="12" name="TextBox 11"/>
          <p:cNvSpPr txBox="1"/>
          <p:nvPr/>
        </p:nvSpPr>
        <p:spPr>
          <a:xfrm>
            <a:off x="731520" y="4983480"/>
            <a:ext cx="4937760" cy="914400"/>
          </a:xfrm>
          <a:prstGeom prst="rect">
            <a:avLst/>
          </a:prstGeom>
          <a:noFill/>
        </p:spPr>
        <p:txBody>
          <a:bodyPr wrap="square">
            <a:spAutoFit/>
          </a:bodyPr>
          <a:lstStyle/>
          <a:p>
            <a:pPr>
              <a:defRPr sz="850">
                <a:solidFill>
                  <a:srgbClr val="526071"/>
                </a:solidFill>
                <a:latin typeface="Arial"/>
              </a:defRPr>
            </a:pPr>
            <a:r>
              <a:t>Boundary Note: This analysis is based on the proposed workflows and interface design; passenger impact remains to be validated. No claims are made regarding institutional workload reduction without authorized field data.</a:t>
            </a:r>
          </a:p>
        </p:txBody>
      </p:sp>
      <p:sp>
        <p:nvSpPr>
          <p:cNvPr id="13" name="Rounded Rectangle 12"/>
          <p:cNvSpPr/>
          <p:nvPr/>
        </p:nvSpPr>
        <p:spPr>
          <a:xfrm>
            <a:off x="5943600" y="960120"/>
            <a:ext cx="5486400" cy="1554480"/>
          </a:xfrm>
          <a:prstGeom prst="roundRect">
            <a:avLst/>
          </a:prstGeom>
          <a:solidFill>
            <a:srgbClr val="F4F9FC"/>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126480" y="1143000"/>
            <a:ext cx="365760" cy="365760"/>
          </a:xfrm>
          <a:prstGeom prst="ellipse">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01</a:t>
            </a:r>
          </a:p>
        </p:txBody>
      </p:sp>
      <p:sp>
        <p:nvSpPr>
          <p:cNvPr id="15" name="TextBox 14"/>
          <p:cNvSpPr txBox="1"/>
          <p:nvPr/>
        </p:nvSpPr>
        <p:spPr>
          <a:xfrm>
            <a:off x="6629400" y="1069848"/>
            <a:ext cx="4663440" cy="1325880"/>
          </a:xfrm>
          <a:prstGeom prst="rect">
            <a:avLst/>
          </a:prstGeom>
          <a:noFill/>
        </p:spPr>
        <p:txBody>
          <a:bodyPr wrap="square">
            <a:spAutoFit/>
          </a:bodyPr>
          <a:lstStyle/>
          <a:p>
            <a:pPr>
              <a:defRPr sz="1100" b="1">
                <a:solidFill>
                  <a:srgbClr val="0F2C59"/>
                </a:solidFill>
                <a:latin typeface="Arial"/>
              </a:defRPr>
            </a:pPr>
            <a:r>
              <a:t>TRANSACTION UNCERTAINTY</a:t>
            </a:r>
          </a:p>
          <a:p>
            <a:pPr>
              <a:defRPr sz="950" b="1">
                <a:solidFill>
                  <a:srgbClr val="1D6394"/>
                </a:solidFill>
                <a:latin typeface="Arial"/>
              </a:defRPr>
            </a:pPr>
            <a:r>
              <a:t>Payment Debits &amp; Settlement Lags</a:t>
            </a:r>
          </a:p>
          <a:p>
            <a:pPr>
              <a:defRPr sz="900">
                <a:solidFill>
                  <a:srgbClr val="1E293B"/>
                </a:solidFill>
                <a:latin typeface="Arial"/>
              </a:defRPr>
            </a:pPr>
            <a:r>
              <a:t>A payment debit without ticket generation can create uncertainty about transaction reconciliation, refund procedures, and the appropriate support channel.</a:t>
            </a:r>
          </a:p>
        </p:txBody>
      </p:sp>
      <p:sp>
        <p:nvSpPr>
          <p:cNvPr id="16" name="Rounded Rectangle 15"/>
          <p:cNvSpPr/>
          <p:nvPr/>
        </p:nvSpPr>
        <p:spPr>
          <a:xfrm>
            <a:off x="5943600" y="2651760"/>
            <a:ext cx="5486400" cy="1554480"/>
          </a:xfrm>
          <a:prstGeom prst="roundRect">
            <a:avLst/>
          </a:prstGeom>
          <a:solidFill>
            <a:srgbClr val="F4F9FC"/>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126480" y="2834640"/>
            <a:ext cx="365760" cy="365760"/>
          </a:xfrm>
          <a:prstGeom prst="ellipse">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02</a:t>
            </a:r>
          </a:p>
        </p:txBody>
      </p:sp>
      <p:sp>
        <p:nvSpPr>
          <p:cNvPr id="18" name="TextBox 17"/>
          <p:cNvSpPr txBox="1"/>
          <p:nvPr/>
        </p:nvSpPr>
        <p:spPr>
          <a:xfrm>
            <a:off x="6629400" y="2761488"/>
            <a:ext cx="4663440" cy="1325880"/>
          </a:xfrm>
          <a:prstGeom prst="rect">
            <a:avLst/>
          </a:prstGeom>
          <a:noFill/>
        </p:spPr>
        <p:txBody>
          <a:bodyPr wrap="square">
            <a:spAutoFit/>
          </a:bodyPr>
          <a:lstStyle/>
          <a:p>
            <a:pPr>
              <a:defRPr sz="1100" b="1">
                <a:solidFill>
                  <a:srgbClr val="0F2C59"/>
                </a:solidFill>
                <a:latin typeface="Arial"/>
              </a:defRPr>
            </a:pPr>
            <a:r>
              <a:t>RULE COMPLEXITY</a:t>
            </a:r>
          </a:p>
          <a:p>
            <a:pPr>
              <a:defRPr sz="950" b="1">
                <a:solidFill>
                  <a:srgbClr val="1D6394"/>
                </a:solidFill>
                <a:latin typeface="Arial"/>
              </a:defRPr>
            </a:pPr>
            <a:r>
              <a:t>Reservation Categories &amp; Charting</a:t>
            </a:r>
          </a:p>
          <a:p>
            <a:pPr>
              <a:defRPr sz="900">
                <a:solidFill>
                  <a:srgbClr val="1E293B"/>
                </a:solidFill>
                <a:latin typeface="Arial"/>
              </a:defRPr>
            </a:pPr>
            <a:r>
              <a:t>Reservation status and ticket category can affect what a passenger should do next. Explanations must be accurate, current, and tied to the relevant rules.</a:t>
            </a:r>
          </a:p>
        </p:txBody>
      </p:sp>
      <p:sp>
        <p:nvSpPr>
          <p:cNvPr id="19" name="Rounded Rectangle 18"/>
          <p:cNvSpPr/>
          <p:nvPr/>
        </p:nvSpPr>
        <p:spPr>
          <a:xfrm>
            <a:off x="5943600" y="4343400"/>
            <a:ext cx="5486400" cy="1554480"/>
          </a:xfrm>
          <a:prstGeom prst="roundRect">
            <a:avLst/>
          </a:prstGeom>
          <a:solidFill>
            <a:srgbClr val="F4F9FC"/>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126480" y="4526280"/>
            <a:ext cx="365760" cy="365760"/>
          </a:xfrm>
          <a:prstGeom prst="ellipse">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03</a:t>
            </a:r>
          </a:p>
        </p:txBody>
      </p:sp>
      <p:sp>
        <p:nvSpPr>
          <p:cNvPr id="21" name="TextBox 20"/>
          <p:cNvSpPr txBox="1"/>
          <p:nvPr/>
        </p:nvSpPr>
        <p:spPr>
          <a:xfrm>
            <a:off x="6629400" y="4453128"/>
            <a:ext cx="4663440" cy="1325880"/>
          </a:xfrm>
          <a:prstGeom prst="rect">
            <a:avLst/>
          </a:prstGeom>
          <a:noFill/>
        </p:spPr>
        <p:txBody>
          <a:bodyPr wrap="square">
            <a:spAutoFit/>
          </a:bodyPr>
          <a:lstStyle/>
          <a:p>
            <a:pPr>
              <a:defRPr sz="1100" b="1">
                <a:solidFill>
                  <a:srgbClr val="0F2C59"/>
                </a:solidFill>
                <a:latin typeface="Arial"/>
              </a:defRPr>
            </a:pPr>
            <a:r>
              <a:t>SUPPORT-CHANNEL CONFUSION</a:t>
            </a:r>
          </a:p>
          <a:p>
            <a:pPr>
              <a:defRPr sz="950" b="1">
                <a:solidFill>
                  <a:srgbClr val="1D6394"/>
                </a:solidFill>
                <a:latin typeface="Arial"/>
              </a:defRPr>
            </a:pPr>
            <a:r>
              <a:t>Multi-Agency Support Boundaries</a:t>
            </a:r>
          </a:p>
          <a:p>
            <a:pPr>
              <a:defRPr sz="900">
                <a:solidFill>
                  <a:srgbClr val="1E293B"/>
                </a:solidFill>
                <a:latin typeface="Arial"/>
              </a:defRPr>
            </a:pPr>
            <a:r>
              <a:t>Commercial, payment, operational, and safety issues may require different official channels. Clear routing guidance can help passengers understand where to seek authoritative assistance.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ailsahayak_logo.png"/>
          <p:cNvPicPr>
            <a:picLocks noChangeAspect="1"/>
          </p:cNvPicPr>
          <p:nvPr/>
        </p:nvPicPr>
        <p:blipFill>
          <a:blip r:embed="rId2"/>
          <a:stretch>
            <a:fillRect/>
          </a:stretch>
        </p:blipFill>
        <p:spPr>
          <a:xfrm>
            <a:off x="731520" y="320040"/>
            <a:ext cx="365760" cy="365760"/>
          </a:xfrm>
          <a:prstGeom prst="rect">
            <a:avLst/>
          </a:prstGeom>
        </p:spPr>
      </p:pic>
      <p:sp>
        <p:nvSpPr>
          <p:cNvPr id="4" name="TextBox 3"/>
          <p:cNvSpPr txBox="1"/>
          <p:nvPr/>
        </p:nvSpPr>
        <p:spPr>
          <a:xfrm>
            <a:off x="1170432" y="329184"/>
            <a:ext cx="5486400" cy="347472"/>
          </a:xfrm>
          <a:prstGeom prst="rect">
            <a:avLst/>
          </a:prstGeom>
          <a:noFill/>
        </p:spPr>
        <p:txBody>
          <a:bodyPr wrap="square">
            <a:spAutoFit/>
          </a:bodyPr>
          <a:lstStyle/>
          <a:p>
            <a:pPr>
              <a:defRPr sz="1000" b="1">
                <a:solidFill>
                  <a:srgbClr val="1D6394"/>
                </a:solidFill>
                <a:latin typeface="Arial"/>
              </a:defRPr>
            </a:pPr>
            <a:r>
              <a:t>RailSahayak  |  System Concept &amp; Architecture</a:t>
            </a:r>
          </a:p>
        </p:txBody>
      </p:sp>
      <p:sp>
        <p:nvSpPr>
          <p:cNvPr id="5" name="Rounded Rectangle 4"/>
          <p:cNvSpPr/>
          <p:nvPr/>
        </p:nvSpPr>
        <p:spPr>
          <a:xfrm>
            <a:off x="8961120" y="310896"/>
            <a:ext cx="2499055" cy="347472"/>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F2C59"/>
                </a:solidFill>
                <a:latin typeface="Arial"/>
              </a:defRPr>
            </a:pPr>
            <a:r>
              <a:t>SOLUTION ARCHITECTURE</a:t>
            </a:r>
          </a:p>
        </p:txBody>
      </p:sp>
      <p:sp>
        <p:nvSpPr>
          <p:cNvPr id="6" name="Rectangle 5"/>
          <p:cNvSpPr/>
          <p:nvPr/>
        </p:nvSpPr>
        <p:spPr>
          <a:xfrm>
            <a:off x="731520" y="6446520"/>
            <a:ext cx="10728655" cy="12700"/>
          </a:xfrm>
          <a:prstGeom prst="rect">
            <a:avLst/>
          </a:prstGeom>
          <a:solidFill>
            <a:srgbClr val="C8D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6858000" cy="274320"/>
          </a:xfrm>
          <a:prstGeom prst="rect">
            <a:avLst/>
          </a:prstGeom>
          <a:noFill/>
        </p:spPr>
        <p:txBody>
          <a:bodyPr wrap="none">
            <a:spAutoFit/>
          </a:bodyPr>
          <a:lstStyle/>
          <a:p>
            <a:pPr>
              <a:defRPr sz="800">
                <a:solidFill>
                  <a:srgbClr val="526071"/>
                </a:solidFill>
                <a:latin typeface="Arial"/>
              </a:defRPr>
            </a:pPr>
            <a:r>
              <a:t>INDEPENDENT TECHNICAL PROPOSAL | NOT AN OFFICIAL IRCTC/CRIS/INDIAN RAILWAYS RELEASE</a:t>
            </a:r>
          </a:p>
        </p:txBody>
      </p:sp>
      <p:sp>
        <p:nvSpPr>
          <p:cNvPr id="8" name="TextBox 7"/>
          <p:cNvSpPr txBox="1"/>
          <p:nvPr/>
        </p:nvSpPr>
        <p:spPr>
          <a:xfrm>
            <a:off x="8716975" y="6492240"/>
            <a:ext cx="2743200" cy="274320"/>
          </a:xfrm>
          <a:prstGeom prst="rect">
            <a:avLst/>
          </a:prstGeom>
          <a:noFill/>
        </p:spPr>
        <p:txBody>
          <a:bodyPr wrap="none">
            <a:spAutoFit/>
          </a:bodyPr>
          <a:lstStyle/>
          <a:p>
            <a:pPr algn="r">
              <a:defRPr sz="850" b="1">
                <a:solidFill>
                  <a:srgbClr val="0F2C59"/>
                </a:solidFill>
                <a:latin typeface="Arial"/>
              </a:defRPr>
            </a:pPr>
            <a:r>
              <a:t>Page 4 of 11</a:t>
            </a:r>
          </a:p>
        </p:txBody>
      </p:sp>
      <p:sp>
        <p:nvSpPr>
          <p:cNvPr id="9" name="Rounded Rectangle 8"/>
          <p:cNvSpPr/>
          <p:nvPr/>
        </p:nvSpPr>
        <p:spPr>
          <a:xfrm>
            <a:off x="731520" y="914400"/>
            <a:ext cx="10728655" cy="525780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1188720"/>
            <a:ext cx="4572000" cy="457200"/>
          </a:xfrm>
          <a:prstGeom prst="rect">
            <a:avLst/>
          </a:prstGeom>
          <a:noFill/>
        </p:spPr>
        <p:txBody>
          <a:bodyPr wrap="none">
            <a:spAutoFit/>
          </a:bodyPr>
          <a:lstStyle/>
          <a:p>
            <a:pPr>
              <a:defRPr sz="2600" b="1">
                <a:solidFill>
                  <a:srgbClr val="0F2C59"/>
                </a:solidFill>
                <a:latin typeface="Arial"/>
              </a:defRPr>
            </a:pPr>
            <a:r>
              <a:t>OUR SOLUTION</a:t>
            </a:r>
          </a:p>
        </p:txBody>
      </p:sp>
      <p:sp>
        <p:nvSpPr>
          <p:cNvPr id="11" name="TextBox 10"/>
          <p:cNvSpPr txBox="1"/>
          <p:nvPr/>
        </p:nvSpPr>
        <p:spPr>
          <a:xfrm>
            <a:off x="1097280" y="1737360"/>
            <a:ext cx="4572000" cy="1371600"/>
          </a:xfrm>
          <a:prstGeom prst="rect">
            <a:avLst/>
          </a:prstGeom>
          <a:noFill/>
        </p:spPr>
        <p:txBody>
          <a:bodyPr wrap="square">
            <a:spAutoFit/>
          </a:bodyPr>
          <a:lstStyle/>
          <a:p>
            <a:pPr>
              <a:defRPr sz="1100">
                <a:solidFill>
                  <a:srgbClr val="1E293B"/>
                </a:solidFill>
                <a:latin typeface="Arial"/>
              </a:defRPr>
            </a:pPr>
            <a:r>
              <a:t>RailSahayak is an independent advisory prototype that brings selected passenger-support workflows into one interface. It aims to explain possible next steps and point users toward official channels when authoritative action or confirmation is required.</a:t>
            </a:r>
          </a:p>
        </p:txBody>
      </p:sp>
      <p:sp>
        <p:nvSpPr>
          <p:cNvPr id="12" name="Rounded Rectangle 11"/>
          <p:cNvSpPr/>
          <p:nvPr/>
        </p:nvSpPr>
        <p:spPr>
          <a:xfrm>
            <a:off x="1097280" y="3291840"/>
            <a:ext cx="4572000" cy="2377440"/>
          </a:xfrm>
          <a:prstGeom prst="roundRect">
            <a:avLst/>
          </a:prstGeom>
          <a:solidFill>
            <a:srgbClr val="FFFFFF"/>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2C59"/>
                </a:solidFill>
                <a:latin typeface="Arial"/>
              </a:defRPr>
            </a:pPr>
            <a:r>
              <a:t>IMPORTANT SYSTEM BOUNDARY</a:t>
            </a:r>
          </a:p>
          <a:p>
            <a:pPr>
              <a:defRPr sz="950">
                <a:solidFill>
                  <a:srgbClr val="1E293B"/>
                </a:solidFill>
                <a:latin typeface="Arial"/>
              </a:defRPr>
            </a:pPr>
            <a:r>
              <a:t>RailSahayak does not replace official booking systems. Live railway data and institutional integrations must not be represented as available unless verified and authorized.</a:t>
            </a:r>
          </a:p>
          <a:p>
            <a:pPr>
              <a:defRPr sz="850">
                <a:solidFill>
                  <a:srgbClr val="526071"/>
                </a:solidFill>
                <a:latin typeface="Arial"/>
              </a:defRPr>
            </a:pPr>
            <a:r>
              <a:t>• No live PRS integration is claimed.</a:t>
            </a:r>
            <a:br/>
            <a:r>
              <a:t>• Payment credentials and cardholder data are outside the intended prototype workflow; implementation should be verified.</a:t>
            </a:r>
            <a:br/>
            <a:r>
              <a:t>• Clear disclaimers directing passengers to official railway channels</a:t>
            </a:r>
          </a:p>
        </p:txBody>
      </p:sp>
      <p:sp>
        <p:nvSpPr>
          <p:cNvPr id="13" name="Rectangle 12"/>
          <p:cNvSpPr/>
          <p:nvPr/>
        </p:nvSpPr>
        <p:spPr>
          <a:xfrm>
            <a:off x="6263640" y="1371600"/>
            <a:ext cx="25400" cy="4114800"/>
          </a:xfrm>
          <a:prstGeom prst="rect">
            <a:avLst/>
          </a:prstGeom>
          <a:solidFill>
            <a:srgbClr val="2B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080760" y="1325880"/>
            <a:ext cx="384048" cy="384048"/>
          </a:xfrm>
          <a:prstGeom prst="ellipse">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01</a:t>
            </a:r>
          </a:p>
        </p:txBody>
      </p:sp>
      <p:sp>
        <p:nvSpPr>
          <p:cNvPr id="15" name="Rounded Rectangle 14"/>
          <p:cNvSpPr/>
          <p:nvPr/>
        </p:nvSpPr>
        <p:spPr>
          <a:xfrm>
            <a:off x="6629400" y="1234440"/>
            <a:ext cx="4480560" cy="1325880"/>
          </a:xfrm>
          <a:prstGeom prst="roundRect">
            <a:avLst/>
          </a:prstGeom>
          <a:solidFill>
            <a:srgbClr val="FFFFFF"/>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2C59"/>
                </a:solidFill>
                <a:latin typeface="Arial"/>
              </a:defRPr>
            </a:pPr>
            <a:r>
              <a:t>Step 01  |  CLARIFY — Plain-Language Guidance</a:t>
            </a:r>
          </a:p>
          <a:p>
            <a:pPr>
              <a:defRPr sz="950">
                <a:solidFill>
                  <a:srgbClr val="1E293B"/>
                </a:solidFill>
                <a:latin typeface="Arial"/>
              </a:defRPr>
            </a:pPr>
            <a:r>
              <a:t>Explain selected reservation, payment-help, and complaint procedures in clear language based on the functionality actually implemented.</a:t>
            </a:r>
          </a:p>
        </p:txBody>
      </p:sp>
      <p:sp>
        <p:nvSpPr>
          <p:cNvPr id="16" name="Oval 15"/>
          <p:cNvSpPr/>
          <p:nvPr/>
        </p:nvSpPr>
        <p:spPr>
          <a:xfrm>
            <a:off x="6080760" y="2834640"/>
            <a:ext cx="384048" cy="384048"/>
          </a:xfrm>
          <a:prstGeom prst="ellipse">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02</a:t>
            </a:r>
          </a:p>
        </p:txBody>
      </p:sp>
      <p:sp>
        <p:nvSpPr>
          <p:cNvPr id="17" name="Rounded Rectangle 16"/>
          <p:cNvSpPr/>
          <p:nvPr/>
        </p:nvSpPr>
        <p:spPr>
          <a:xfrm>
            <a:off x="6629400" y="2743200"/>
            <a:ext cx="4480560" cy="1325880"/>
          </a:xfrm>
          <a:prstGeom prst="roundRect">
            <a:avLst/>
          </a:prstGeom>
          <a:solidFill>
            <a:srgbClr val="FFFFFF"/>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2C59"/>
                </a:solidFill>
                <a:latin typeface="Arial"/>
              </a:defRPr>
            </a:pPr>
            <a:r>
              <a:t>Step 02  |  ORGANIZE — Structured Issue Capture</a:t>
            </a:r>
          </a:p>
          <a:p>
            <a:pPr>
              <a:defRPr sz="950">
                <a:solidFill>
                  <a:srgbClr val="1E293B"/>
                </a:solidFill>
                <a:latin typeface="Arial"/>
              </a:defRPr>
            </a:pPr>
            <a:r>
              <a:t>Help organize relevant incident details and complaint information without requesting unnecessary payment secrets or sensitive credentials.</a:t>
            </a:r>
          </a:p>
        </p:txBody>
      </p:sp>
      <p:sp>
        <p:nvSpPr>
          <p:cNvPr id="18" name="Oval 17"/>
          <p:cNvSpPr/>
          <p:nvPr/>
        </p:nvSpPr>
        <p:spPr>
          <a:xfrm>
            <a:off x="6080760" y="4343400"/>
            <a:ext cx="384048" cy="384048"/>
          </a:xfrm>
          <a:prstGeom prst="ellipse">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03</a:t>
            </a:r>
          </a:p>
        </p:txBody>
      </p:sp>
      <p:sp>
        <p:nvSpPr>
          <p:cNvPr id="19" name="Rounded Rectangle 18"/>
          <p:cNvSpPr/>
          <p:nvPr/>
        </p:nvSpPr>
        <p:spPr>
          <a:xfrm>
            <a:off x="6629400" y="4251960"/>
            <a:ext cx="4480560" cy="1325880"/>
          </a:xfrm>
          <a:prstGeom prst="roundRect">
            <a:avLst/>
          </a:prstGeom>
          <a:solidFill>
            <a:srgbClr val="FFFFFF"/>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2C59"/>
                </a:solidFill>
                <a:latin typeface="Arial"/>
              </a:defRPr>
            </a:pPr>
            <a:r>
              <a:t>Step 03  |  DIRECT — Appropriate Next Steps</a:t>
            </a:r>
          </a:p>
          <a:p>
            <a:pPr>
              <a:defRPr sz="950">
                <a:solidFill>
                  <a:srgbClr val="1E293B"/>
                </a:solidFill>
                <a:latin typeface="Arial"/>
              </a:defRPr>
            </a:pPr>
            <a:r>
              <a:t>Guide the passenger toward the relevant official service or support channel when an issue requires authoritative information or 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ailsahayak_logo.png"/>
          <p:cNvPicPr>
            <a:picLocks noChangeAspect="1"/>
          </p:cNvPicPr>
          <p:nvPr/>
        </p:nvPicPr>
        <p:blipFill>
          <a:blip r:embed="rId2"/>
          <a:stretch>
            <a:fillRect/>
          </a:stretch>
        </p:blipFill>
        <p:spPr>
          <a:xfrm>
            <a:off x="731520" y="320040"/>
            <a:ext cx="365760" cy="365760"/>
          </a:xfrm>
          <a:prstGeom prst="rect">
            <a:avLst/>
          </a:prstGeom>
        </p:spPr>
      </p:pic>
      <p:sp>
        <p:nvSpPr>
          <p:cNvPr id="4" name="TextBox 3"/>
          <p:cNvSpPr txBox="1"/>
          <p:nvPr/>
        </p:nvSpPr>
        <p:spPr>
          <a:xfrm>
            <a:off x="1170432" y="329184"/>
            <a:ext cx="5486400" cy="347472"/>
          </a:xfrm>
          <a:prstGeom prst="rect">
            <a:avLst/>
          </a:prstGeom>
          <a:noFill/>
        </p:spPr>
        <p:txBody>
          <a:bodyPr wrap="square">
            <a:spAutoFit/>
          </a:bodyPr>
          <a:lstStyle/>
          <a:p>
            <a:pPr>
              <a:defRPr sz="1000" b="1">
                <a:solidFill>
                  <a:srgbClr val="1D6394"/>
                </a:solidFill>
                <a:latin typeface="Arial"/>
              </a:defRPr>
            </a:pPr>
            <a:r>
              <a:t>RailSahayak  |  Proposed Impact &amp; Principles</a:t>
            </a:r>
          </a:p>
        </p:txBody>
      </p:sp>
      <p:sp>
        <p:nvSpPr>
          <p:cNvPr id="5" name="Rounded Rectangle 4"/>
          <p:cNvSpPr/>
          <p:nvPr/>
        </p:nvSpPr>
        <p:spPr>
          <a:xfrm>
            <a:off x="8961120" y="310896"/>
            <a:ext cx="2499055" cy="347472"/>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F2C59"/>
                </a:solidFill>
                <a:latin typeface="Arial"/>
              </a:defRPr>
            </a:pPr>
            <a:r>
              <a:t>VALUE PROPOSITION</a:t>
            </a:r>
          </a:p>
        </p:txBody>
      </p:sp>
      <p:sp>
        <p:nvSpPr>
          <p:cNvPr id="6" name="Rectangle 5"/>
          <p:cNvSpPr/>
          <p:nvPr/>
        </p:nvSpPr>
        <p:spPr>
          <a:xfrm>
            <a:off x="731520" y="6446520"/>
            <a:ext cx="10728655" cy="12700"/>
          </a:xfrm>
          <a:prstGeom prst="rect">
            <a:avLst/>
          </a:prstGeom>
          <a:solidFill>
            <a:srgbClr val="C8D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6858000" cy="274320"/>
          </a:xfrm>
          <a:prstGeom prst="rect">
            <a:avLst/>
          </a:prstGeom>
          <a:noFill/>
        </p:spPr>
        <p:txBody>
          <a:bodyPr wrap="none">
            <a:spAutoFit/>
          </a:bodyPr>
          <a:lstStyle/>
          <a:p>
            <a:pPr>
              <a:defRPr sz="800">
                <a:solidFill>
                  <a:srgbClr val="526071"/>
                </a:solidFill>
                <a:latin typeface="Arial"/>
              </a:defRPr>
            </a:pPr>
            <a:r>
              <a:t>INDEPENDENT TECHNICAL PROPOSAL | NOT AN OFFICIAL IRCTC/CRIS/INDIAN RAILWAYS RELEASE</a:t>
            </a:r>
          </a:p>
        </p:txBody>
      </p:sp>
      <p:sp>
        <p:nvSpPr>
          <p:cNvPr id="8" name="TextBox 7"/>
          <p:cNvSpPr txBox="1"/>
          <p:nvPr/>
        </p:nvSpPr>
        <p:spPr>
          <a:xfrm>
            <a:off x="8716975" y="6492240"/>
            <a:ext cx="2743200" cy="274320"/>
          </a:xfrm>
          <a:prstGeom prst="rect">
            <a:avLst/>
          </a:prstGeom>
          <a:noFill/>
        </p:spPr>
        <p:txBody>
          <a:bodyPr wrap="none">
            <a:spAutoFit/>
          </a:bodyPr>
          <a:lstStyle/>
          <a:p>
            <a:pPr algn="r">
              <a:defRPr sz="850" b="1">
                <a:solidFill>
                  <a:srgbClr val="0F2C59"/>
                </a:solidFill>
                <a:latin typeface="Arial"/>
              </a:defRPr>
            </a:pPr>
            <a:r>
              <a:t>Page 5 of 11</a:t>
            </a:r>
          </a:p>
        </p:txBody>
      </p:sp>
      <p:sp>
        <p:nvSpPr>
          <p:cNvPr id="9" name="TextBox 8"/>
          <p:cNvSpPr txBox="1"/>
          <p:nvPr/>
        </p:nvSpPr>
        <p:spPr>
          <a:xfrm>
            <a:off x="731520" y="868680"/>
            <a:ext cx="10728655" cy="457200"/>
          </a:xfrm>
          <a:prstGeom prst="rect">
            <a:avLst/>
          </a:prstGeom>
          <a:noFill/>
        </p:spPr>
        <p:txBody>
          <a:bodyPr wrap="none">
            <a:spAutoFit/>
          </a:bodyPr>
          <a:lstStyle/>
          <a:p>
            <a:pPr algn="ctr">
              <a:defRPr sz="2600" b="1">
                <a:solidFill>
                  <a:srgbClr val="0F2C59"/>
                </a:solidFill>
                <a:latin typeface="Arial"/>
              </a:defRPr>
            </a:pPr>
            <a:r>
              <a:t>THE VALUE PROPOSITION</a:t>
            </a:r>
          </a:p>
        </p:txBody>
      </p:sp>
      <p:sp>
        <p:nvSpPr>
          <p:cNvPr id="10" name="TextBox 9"/>
          <p:cNvSpPr txBox="1"/>
          <p:nvPr/>
        </p:nvSpPr>
        <p:spPr>
          <a:xfrm>
            <a:off x="731520" y="1325880"/>
            <a:ext cx="10728655" cy="365760"/>
          </a:xfrm>
          <a:prstGeom prst="rect">
            <a:avLst/>
          </a:prstGeom>
          <a:noFill/>
        </p:spPr>
        <p:txBody>
          <a:bodyPr wrap="none">
            <a:spAutoFit/>
          </a:bodyPr>
          <a:lstStyle/>
          <a:p>
            <a:pPr algn="ctr">
              <a:defRPr sz="1150">
                <a:solidFill>
                  <a:srgbClr val="526071"/>
                </a:solidFill>
                <a:latin typeface="Arial"/>
              </a:defRPr>
            </a:pPr>
            <a:r>
              <a:t>Four core principles shaping clearer guidance and disciplined institutional alignment.</a:t>
            </a:r>
          </a:p>
        </p:txBody>
      </p:sp>
      <p:sp>
        <p:nvSpPr>
          <p:cNvPr id="11" name="Rectangle 10"/>
          <p:cNvSpPr/>
          <p:nvPr/>
        </p:nvSpPr>
        <p:spPr>
          <a:xfrm>
            <a:off x="1097280" y="2057400"/>
            <a:ext cx="9997135" cy="25400"/>
          </a:xfrm>
          <a:prstGeom prst="rect">
            <a:avLst/>
          </a:prstGeom>
          <a:solidFill>
            <a:srgbClr val="2B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60220" y="1828800"/>
            <a:ext cx="457200" cy="457200"/>
          </a:xfrm>
          <a:prstGeom prst="ellipse">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01</a:t>
            </a:r>
          </a:p>
        </p:txBody>
      </p:sp>
      <p:sp>
        <p:nvSpPr>
          <p:cNvPr id="13" name="Rounded Rectangle 12"/>
          <p:cNvSpPr/>
          <p:nvPr/>
        </p:nvSpPr>
        <p:spPr>
          <a:xfrm>
            <a:off x="731520" y="2468880"/>
            <a:ext cx="2514600" cy="242316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F2C59"/>
                </a:solidFill>
                <a:latin typeface="Arial"/>
              </a:defRPr>
            </a:pPr>
            <a:r>
              <a:t>CLARITY</a:t>
            </a:r>
          </a:p>
          <a:p>
            <a:pPr algn="ctr">
              <a:defRPr sz="950">
                <a:solidFill>
                  <a:srgbClr val="1E293B"/>
                </a:solidFill>
                <a:latin typeface="Arial"/>
              </a:defRPr>
            </a:pPr>
            <a:r>
              <a:t>Organize complex procedural information into short, understandable guidance for everyday passengers.</a:t>
            </a:r>
          </a:p>
        </p:txBody>
      </p:sp>
      <p:sp>
        <p:nvSpPr>
          <p:cNvPr id="14" name="Oval 13"/>
          <p:cNvSpPr/>
          <p:nvPr/>
        </p:nvSpPr>
        <p:spPr>
          <a:xfrm>
            <a:off x="4494276" y="1828800"/>
            <a:ext cx="457200" cy="457200"/>
          </a:xfrm>
          <a:prstGeom prst="ellipse">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02</a:t>
            </a:r>
          </a:p>
        </p:txBody>
      </p:sp>
      <p:sp>
        <p:nvSpPr>
          <p:cNvPr id="15" name="Rounded Rectangle 14"/>
          <p:cNvSpPr/>
          <p:nvPr/>
        </p:nvSpPr>
        <p:spPr>
          <a:xfrm>
            <a:off x="3465576" y="2468880"/>
            <a:ext cx="2514600" cy="242316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F2C59"/>
                </a:solidFill>
                <a:latin typeface="Arial"/>
              </a:defRPr>
            </a:pPr>
            <a:r>
              <a:t>STRUCTURE</a:t>
            </a:r>
          </a:p>
          <a:p>
            <a:pPr algn="ctr">
              <a:defRPr sz="950">
                <a:solidFill>
                  <a:srgbClr val="1E293B"/>
                </a:solidFill>
                <a:latin typeface="Arial"/>
              </a:defRPr>
            </a:pPr>
            <a:r>
              <a:t>Capture selected issue details in a consistent format to make the next step easier to understand.</a:t>
            </a:r>
          </a:p>
        </p:txBody>
      </p:sp>
      <p:sp>
        <p:nvSpPr>
          <p:cNvPr id="16" name="Oval 15"/>
          <p:cNvSpPr/>
          <p:nvPr/>
        </p:nvSpPr>
        <p:spPr>
          <a:xfrm>
            <a:off x="7228332" y="1828800"/>
            <a:ext cx="457200" cy="457200"/>
          </a:xfrm>
          <a:prstGeom prst="ellipse">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03</a:t>
            </a:r>
          </a:p>
        </p:txBody>
      </p:sp>
      <p:sp>
        <p:nvSpPr>
          <p:cNvPr id="17" name="Rounded Rectangle 16"/>
          <p:cNvSpPr/>
          <p:nvPr/>
        </p:nvSpPr>
        <p:spPr>
          <a:xfrm>
            <a:off x="6199632" y="2468880"/>
            <a:ext cx="2514600" cy="242316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F2C59"/>
                </a:solidFill>
                <a:latin typeface="Arial"/>
              </a:defRPr>
            </a:pPr>
            <a:r>
              <a:t>TRACEABILITY</a:t>
            </a:r>
          </a:p>
          <a:p>
            <a:pPr algn="ctr">
              <a:defRPr sz="950">
                <a:solidFill>
                  <a:srgbClr val="1E293B"/>
                </a:solidFill>
                <a:latin typeface="Arial"/>
              </a:defRPr>
            </a:pPr>
            <a:r>
              <a:t>Where implemented, show complaint identifiers and recorded status changes to help users follow a case within the prototype.</a:t>
            </a:r>
          </a:p>
        </p:txBody>
      </p:sp>
      <p:sp>
        <p:nvSpPr>
          <p:cNvPr id="18" name="Oval 17"/>
          <p:cNvSpPr/>
          <p:nvPr/>
        </p:nvSpPr>
        <p:spPr>
          <a:xfrm>
            <a:off x="9962388" y="1828800"/>
            <a:ext cx="457200" cy="457200"/>
          </a:xfrm>
          <a:prstGeom prst="ellipse">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04</a:t>
            </a:r>
          </a:p>
        </p:txBody>
      </p:sp>
      <p:sp>
        <p:nvSpPr>
          <p:cNvPr id="19" name="Rounded Rectangle 18"/>
          <p:cNvSpPr/>
          <p:nvPr/>
        </p:nvSpPr>
        <p:spPr>
          <a:xfrm>
            <a:off x="8933688" y="2468880"/>
            <a:ext cx="2514600" cy="242316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F2C59"/>
                </a:solidFill>
                <a:latin typeface="Arial"/>
              </a:defRPr>
            </a:pPr>
            <a:r>
              <a:t>COMPLEMENTARY DESIGN</a:t>
            </a:r>
          </a:p>
          <a:p>
            <a:pPr algn="ctr">
              <a:defRPr sz="950">
                <a:solidFill>
                  <a:srgbClr val="1E293B"/>
                </a:solidFill>
                <a:latin typeface="Arial"/>
              </a:defRPr>
            </a:pPr>
            <a:r>
              <a:t>Keep official booking, payment, and railway operations under their respective authorized systems.</a:t>
            </a:r>
          </a:p>
        </p:txBody>
      </p:sp>
      <p:sp>
        <p:nvSpPr>
          <p:cNvPr id="20" name="Rounded Rectangle 19"/>
          <p:cNvSpPr/>
          <p:nvPr/>
        </p:nvSpPr>
        <p:spPr>
          <a:xfrm>
            <a:off x="731520" y="5120640"/>
            <a:ext cx="10728655" cy="960120"/>
          </a:xfrm>
          <a:prstGeom prst="roundRect">
            <a:avLst/>
          </a:prstGeom>
          <a:solidFill>
            <a:srgbClr val="DDF0F5"/>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2C59"/>
                </a:solidFill>
                <a:latin typeface="Arial"/>
              </a:defRPr>
            </a:pPr>
            <a:r>
              <a:t>CORE ARCHITECTURAL POSITION</a:t>
            </a:r>
          </a:p>
          <a:p>
            <a:pPr algn="ctr">
              <a:defRPr sz="1200" b="1">
                <a:solidFill>
                  <a:srgbClr val="0F2C59"/>
                </a:solidFill>
                <a:latin typeface="Arial"/>
              </a:defRPr>
            </a:pPr>
            <a:r>
              <a:t>The proposed value is clearer guidance and better-organized next steps — not a replacement for official railway services.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ailsahayak_logo.png"/>
          <p:cNvPicPr>
            <a:picLocks noChangeAspect="1"/>
          </p:cNvPicPr>
          <p:nvPr/>
        </p:nvPicPr>
        <p:blipFill>
          <a:blip r:embed="rId2"/>
          <a:stretch>
            <a:fillRect/>
          </a:stretch>
        </p:blipFill>
        <p:spPr>
          <a:xfrm>
            <a:off x="731520" y="320040"/>
            <a:ext cx="365760" cy="365760"/>
          </a:xfrm>
          <a:prstGeom prst="rect">
            <a:avLst/>
          </a:prstGeom>
        </p:spPr>
      </p:pic>
      <p:sp>
        <p:nvSpPr>
          <p:cNvPr id="4" name="TextBox 3"/>
          <p:cNvSpPr txBox="1"/>
          <p:nvPr/>
        </p:nvSpPr>
        <p:spPr>
          <a:xfrm>
            <a:off x="1170432" y="329184"/>
            <a:ext cx="5486400" cy="347472"/>
          </a:xfrm>
          <a:prstGeom prst="rect">
            <a:avLst/>
          </a:prstGeom>
          <a:noFill/>
        </p:spPr>
        <p:txBody>
          <a:bodyPr wrap="square">
            <a:spAutoFit/>
          </a:bodyPr>
          <a:lstStyle/>
          <a:p>
            <a:pPr>
              <a:defRPr sz="1000" b="1">
                <a:solidFill>
                  <a:srgbClr val="1D6394"/>
                </a:solidFill>
                <a:latin typeface="Arial"/>
              </a:defRPr>
            </a:pPr>
            <a:r>
              <a:t>RailSahayak  |  User Touchpoints &amp; Scenarios</a:t>
            </a:r>
          </a:p>
        </p:txBody>
      </p:sp>
      <p:sp>
        <p:nvSpPr>
          <p:cNvPr id="5" name="Rounded Rectangle 4"/>
          <p:cNvSpPr/>
          <p:nvPr/>
        </p:nvSpPr>
        <p:spPr>
          <a:xfrm>
            <a:off x="8961120" y="310896"/>
            <a:ext cx="2499055" cy="347472"/>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F2C59"/>
                </a:solidFill>
                <a:latin typeface="Arial"/>
              </a:defRPr>
            </a:pPr>
            <a:r>
              <a:t>USE CASES</a:t>
            </a:r>
          </a:p>
        </p:txBody>
      </p:sp>
      <p:sp>
        <p:nvSpPr>
          <p:cNvPr id="6" name="Rectangle 5"/>
          <p:cNvSpPr/>
          <p:nvPr/>
        </p:nvSpPr>
        <p:spPr>
          <a:xfrm>
            <a:off x="731520" y="6446520"/>
            <a:ext cx="10728655" cy="12700"/>
          </a:xfrm>
          <a:prstGeom prst="rect">
            <a:avLst/>
          </a:prstGeom>
          <a:solidFill>
            <a:srgbClr val="C8D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6858000" cy="274320"/>
          </a:xfrm>
          <a:prstGeom prst="rect">
            <a:avLst/>
          </a:prstGeom>
          <a:noFill/>
        </p:spPr>
        <p:txBody>
          <a:bodyPr wrap="none">
            <a:spAutoFit/>
          </a:bodyPr>
          <a:lstStyle/>
          <a:p>
            <a:pPr>
              <a:defRPr sz="800">
                <a:solidFill>
                  <a:srgbClr val="526071"/>
                </a:solidFill>
                <a:latin typeface="Arial"/>
              </a:defRPr>
            </a:pPr>
            <a:r>
              <a:t>INDEPENDENT TECHNICAL PROPOSAL | NOT AN OFFICIAL IRCTC/CRIS/INDIAN RAILWAYS RELEASE</a:t>
            </a:r>
          </a:p>
        </p:txBody>
      </p:sp>
      <p:sp>
        <p:nvSpPr>
          <p:cNvPr id="8" name="TextBox 7"/>
          <p:cNvSpPr txBox="1"/>
          <p:nvPr/>
        </p:nvSpPr>
        <p:spPr>
          <a:xfrm>
            <a:off x="8716975" y="6492240"/>
            <a:ext cx="2743200" cy="274320"/>
          </a:xfrm>
          <a:prstGeom prst="rect">
            <a:avLst/>
          </a:prstGeom>
          <a:noFill/>
        </p:spPr>
        <p:txBody>
          <a:bodyPr wrap="none">
            <a:spAutoFit/>
          </a:bodyPr>
          <a:lstStyle/>
          <a:p>
            <a:pPr algn="r">
              <a:defRPr sz="850" b="1">
                <a:solidFill>
                  <a:srgbClr val="0F2C59"/>
                </a:solidFill>
                <a:latin typeface="Arial"/>
              </a:defRPr>
            </a:pPr>
            <a:r>
              <a:t>Page 6 of 11</a:t>
            </a:r>
          </a:p>
        </p:txBody>
      </p:sp>
      <p:sp>
        <p:nvSpPr>
          <p:cNvPr id="9" name="TextBox 8"/>
          <p:cNvSpPr txBox="1"/>
          <p:nvPr/>
        </p:nvSpPr>
        <p:spPr>
          <a:xfrm>
            <a:off x="731520" y="960120"/>
            <a:ext cx="4206240" cy="822960"/>
          </a:xfrm>
          <a:prstGeom prst="rect">
            <a:avLst/>
          </a:prstGeom>
          <a:noFill/>
        </p:spPr>
        <p:txBody>
          <a:bodyPr wrap="square">
            <a:spAutoFit/>
          </a:bodyPr>
          <a:lstStyle/>
          <a:p>
            <a:pPr>
              <a:defRPr sz="2200" b="1">
                <a:solidFill>
                  <a:srgbClr val="0F2C59"/>
                </a:solidFill>
                <a:latin typeface="Arial"/>
              </a:defRPr>
            </a:pPr>
            <a:r>
              <a:t>TARGET AUDIENCE &amp;</a:t>
            </a:r>
          </a:p>
          <a:p>
            <a:pPr>
              <a:defRPr sz="2200" b="1">
                <a:solidFill>
                  <a:srgbClr val="0F2C59"/>
                </a:solidFill>
                <a:latin typeface="Arial"/>
              </a:defRPr>
            </a:pPr>
            <a:r>
              <a:t>USE CASES</a:t>
            </a:r>
          </a:p>
        </p:txBody>
      </p:sp>
      <p:sp>
        <p:nvSpPr>
          <p:cNvPr id="10" name="TextBox 9"/>
          <p:cNvSpPr txBox="1"/>
          <p:nvPr/>
        </p:nvSpPr>
        <p:spPr>
          <a:xfrm>
            <a:off x="731520" y="1874519"/>
            <a:ext cx="4206240" cy="1005840"/>
          </a:xfrm>
          <a:prstGeom prst="rect">
            <a:avLst/>
          </a:prstGeom>
          <a:noFill/>
        </p:spPr>
        <p:txBody>
          <a:bodyPr wrap="square">
            <a:spAutoFit/>
          </a:bodyPr>
          <a:lstStyle/>
          <a:p>
            <a:pPr>
              <a:defRPr sz="1050">
                <a:solidFill>
                  <a:srgbClr val="1E293B"/>
                </a:solidFill>
                <a:latin typeface="Arial"/>
              </a:defRPr>
            </a:pPr>
            <a:r>
              <a:t>The initial prototype is intended to explore passenger-facing guidance scenarios. Its usefulness and suitability for different groups must be assessed through stakeholder review and user evaluation.</a:t>
            </a:r>
          </a:p>
        </p:txBody>
      </p:sp>
      <p:sp>
        <p:nvSpPr>
          <p:cNvPr id="11" name="Rounded Rectangle 10"/>
          <p:cNvSpPr/>
          <p:nvPr/>
        </p:nvSpPr>
        <p:spPr>
          <a:xfrm>
            <a:off x="731520" y="3063240"/>
            <a:ext cx="4206240" cy="228600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2C59"/>
                </a:solidFill>
                <a:latin typeface="Arial"/>
              </a:defRPr>
            </a:pPr>
            <a:r>
              <a:t>EVALUATION SCOPE &amp; SAFEGUARDS</a:t>
            </a:r>
          </a:p>
          <a:p>
            <a:pPr>
              <a:defRPr sz="900">
                <a:solidFill>
                  <a:srgbClr val="1E293B"/>
                </a:solidFill>
                <a:latin typeface="Arial"/>
              </a:defRPr>
            </a:pPr>
            <a:r>
              <a:t>The use cases describe the intended scope of the prototype. Individual workflows require verification against the available implementation and test evidence. Claims of usefulness are presented as hypotheses to be evaluated in authorized technical discussions, not as pre-validated user demand.</a:t>
            </a:r>
          </a:p>
          <a:p>
            <a:pPr>
              <a:defRPr sz="850">
                <a:solidFill>
                  <a:srgbClr val="526071"/>
                </a:solidFill>
                <a:latin typeface="Arial"/>
              </a:defRPr>
            </a:pPr>
            <a:r>
              <a:t>• No simulated booking confirmation</a:t>
            </a:r>
            <a:br/>
            <a:r>
              <a:t>• No fake live tracking data shown</a:t>
            </a:r>
            <a:br/>
            <a:r>
              <a:t>• Direct referral to official IRCTC / NTES portals</a:t>
            </a:r>
          </a:p>
        </p:txBody>
      </p:sp>
      <p:sp>
        <p:nvSpPr>
          <p:cNvPr id="12" name="Rounded Rectangle 11"/>
          <p:cNvSpPr/>
          <p:nvPr/>
        </p:nvSpPr>
        <p:spPr>
          <a:xfrm>
            <a:off x="5212080" y="960120"/>
            <a:ext cx="2971800" cy="2423160"/>
          </a:xfrm>
          <a:prstGeom prst="roundRect">
            <a:avLst/>
          </a:prstGeom>
          <a:solidFill>
            <a:srgbClr val="F4F9FC"/>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2C59"/>
                </a:solidFill>
                <a:latin typeface="Arial"/>
              </a:defRPr>
            </a:pPr>
            <a:r>
              <a:t>Case 01  |  PASSENGERS PLANNING A JOURNEY</a:t>
            </a:r>
          </a:p>
          <a:p>
            <a:pPr>
              <a:defRPr sz="950">
                <a:solidFill>
                  <a:srgbClr val="1E293B"/>
                </a:solidFill>
                <a:latin typeface="Arial"/>
              </a:defRPr>
            </a:pPr>
            <a:r>
              <a:t>Potential use: understanding station codes, route guidance, reservation terminology, and where to find authoritative travel information.</a:t>
            </a:r>
          </a:p>
        </p:txBody>
      </p:sp>
      <p:sp>
        <p:nvSpPr>
          <p:cNvPr id="13" name="Rounded Rectangle 12"/>
          <p:cNvSpPr/>
          <p:nvPr/>
        </p:nvSpPr>
        <p:spPr>
          <a:xfrm>
            <a:off x="8458200" y="960120"/>
            <a:ext cx="2971800" cy="2423160"/>
          </a:xfrm>
          <a:prstGeom prst="roundRect">
            <a:avLst/>
          </a:prstGeom>
          <a:solidFill>
            <a:srgbClr val="F4F9FC"/>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2C59"/>
                </a:solidFill>
                <a:latin typeface="Arial"/>
              </a:defRPr>
            </a:pPr>
            <a:r>
              <a:t>Case 02  |  PASSENGERS WITH PAYMENT QUESTIONS</a:t>
            </a:r>
          </a:p>
          <a:p>
            <a:pPr>
              <a:defRPr sz="950">
                <a:solidFill>
                  <a:srgbClr val="1E293B"/>
                </a:solidFill>
                <a:latin typeface="Arial"/>
              </a:defRPr>
            </a:pPr>
            <a:r>
              <a:t>Potential use: understanding what information to preserve and which official service to contact after a payment issue.</a:t>
            </a:r>
          </a:p>
        </p:txBody>
      </p:sp>
      <p:sp>
        <p:nvSpPr>
          <p:cNvPr id="14" name="Rounded Rectangle 13"/>
          <p:cNvSpPr/>
          <p:nvPr/>
        </p:nvSpPr>
        <p:spPr>
          <a:xfrm>
            <a:off x="5212080" y="3611880"/>
            <a:ext cx="2971800" cy="2423160"/>
          </a:xfrm>
          <a:prstGeom prst="roundRect">
            <a:avLst/>
          </a:prstGeom>
          <a:solidFill>
            <a:srgbClr val="F4F9FC"/>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2C59"/>
                </a:solidFill>
                <a:latin typeface="Arial"/>
              </a:defRPr>
            </a:pPr>
            <a:r>
              <a:t>Case 03  |  RESERVATION &amp; WAITLIST GUIDANCE</a:t>
            </a:r>
          </a:p>
          <a:p>
            <a:pPr>
              <a:defRPr sz="950">
                <a:solidFill>
                  <a:srgbClr val="1E293B"/>
                </a:solidFill>
                <a:latin typeface="Arial"/>
              </a:defRPr>
            </a:pPr>
            <a:r>
              <a:t>Potential use: understanding the meaning and limitations of reservation and waitlist information.</a:t>
            </a:r>
          </a:p>
        </p:txBody>
      </p:sp>
      <p:sp>
        <p:nvSpPr>
          <p:cNvPr id="15" name="Rounded Rectangle 14"/>
          <p:cNvSpPr/>
          <p:nvPr/>
        </p:nvSpPr>
        <p:spPr>
          <a:xfrm>
            <a:off x="8458200" y="3611880"/>
            <a:ext cx="2971800" cy="2423160"/>
          </a:xfrm>
          <a:prstGeom prst="roundRect">
            <a:avLst/>
          </a:prstGeom>
          <a:solidFill>
            <a:srgbClr val="F4F9FC"/>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2C59"/>
                </a:solidFill>
                <a:latin typeface="Arial"/>
              </a:defRPr>
            </a:pPr>
            <a:r>
              <a:t>Case 04  |  PASSENGERS TRACKING A COMPLAINT</a:t>
            </a:r>
          </a:p>
          <a:p>
            <a:pPr>
              <a:defRPr sz="950">
                <a:solidFill>
                  <a:srgbClr val="1E293B"/>
                </a:solidFill>
                <a:latin typeface="Arial"/>
              </a:defRPr>
            </a:pPr>
            <a:r>
              <a:t>Potential use: recording an issue and following the status available within the RailSahayak prototype.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ailsahayak_logo.png"/>
          <p:cNvPicPr>
            <a:picLocks noChangeAspect="1"/>
          </p:cNvPicPr>
          <p:nvPr/>
        </p:nvPicPr>
        <p:blipFill>
          <a:blip r:embed="rId2"/>
          <a:stretch>
            <a:fillRect/>
          </a:stretch>
        </p:blipFill>
        <p:spPr>
          <a:xfrm>
            <a:off x="731520" y="320040"/>
            <a:ext cx="365760" cy="365760"/>
          </a:xfrm>
          <a:prstGeom prst="rect">
            <a:avLst/>
          </a:prstGeom>
        </p:spPr>
      </p:pic>
      <p:sp>
        <p:nvSpPr>
          <p:cNvPr id="4" name="TextBox 3"/>
          <p:cNvSpPr txBox="1"/>
          <p:nvPr/>
        </p:nvSpPr>
        <p:spPr>
          <a:xfrm>
            <a:off x="1170432" y="329184"/>
            <a:ext cx="5486400" cy="347472"/>
          </a:xfrm>
          <a:prstGeom prst="rect">
            <a:avLst/>
          </a:prstGeom>
          <a:noFill/>
        </p:spPr>
        <p:txBody>
          <a:bodyPr wrap="square">
            <a:spAutoFit/>
          </a:bodyPr>
          <a:lstStyle/>
          <a:p>
            <a:pPr>
              <a:defRPr sz="1000" b="1">
                <a:solidFill>
                  <a:srgbClr val="1D6394"/>
                </a:solidFill>
                <a:latin typeface="Arial"/>
              </a:defRPr>
            </a:pPr>
            <a:r>
              <a:t>RailSahayak  |  Ecosystem Alignment &amp; Positioning</a:t>
            </a:r>
          </a:p>
        </p:txBody>
      </p:sp>
      <p:sp>
        <p:nvSpPr>
          <p:cNvPr id="5" name="Rounded Rectangle 4"/>
          <p:cNvSpPr/>
          <p:nvPr/>
        </p:nvSpPr>
        <p:spPr>
          <a:xfrm>
            <a:off x="8961120" y="310896"/>
            <a:ext cx="2499055" cy="347472"/>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F2C59"/>
                </a:solidFill>
                <a:latin typeface="Arial"/>
              </a:defRPr>
            </a:pPr>
            <a:r>
              <a:t>ECOSYSTEM ARCHITECTURE</a:t>
            </a:r>
          </a:p>
        </p:txBody>
      </p:sp>
      <p:sp>
        <p:nvSpPr>
          <p:cNvPr id="6" name="Rectangle 5"/>
          <p:cNvSpPr/>
          <p:nvPr/>
        </p:nvSpPr>
        <p:spPr>
          <a:xfrm>
            <a:off x="731520" y="6446520"/>
            <a:ext cx="10728655" cy="12700"/>
          </a:xfrm>
          <a:prstGeom prst="rect">
            <a:avLst/>
          </a:prstGeom>
          <a:solidFill>
            <a:srgbClr val="C8D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6858000" cy="274320"/>
          </a:xfrm>
          <a:prstGeom prst="rect">
            <a:avLst/>
          </a:prstGeom>
          <a:noFill/>
        </p:spPr>
        <p:txBody>
          <a:bodyPr wrap="none">
            <a:spAutoFit/>
          </a:bodyPr>
          <a:lstStyle/>
          <a:p>
            <a:pPr>
              <a:defRPr sz="800">
                <a:solidFill>
                  <a:srgbClr val="526071"/>
                </a:solidFill>
                <a:latin typeface="Arial"/>
              </a:defRPr>
            </a:pPr>
            <a:r>
              <a:t>INDEPENDENT TECHNICAL PROPOSAL | NOT AN OFFICIAL IRCTC/CRIS/INDIAN RAILWAYS RELEASE</a:t>
            </a:r>
          </a:p>
        </p:txBody>
      </p:sp>
      <p:sp>
        <p:nvSpPr>
          <p:cNvPr id="8" name="TextBox 7"/>
          <p:cNvSpPr txBox="1"/>
          <p:nvPr/>
        </p:nvSpPr>
        <p:spPr>
          <a:xfrm>
            <a:off x="8716975" y="6492240"/>
            <a:ext cx="2743200" cy="274320"/>
          </a:xfrm>
          <a:prstGeom prst="rect">
            <a:avLst/>
          </a:prstGeom>
          <a:noFill/>
        </p:spPr>
        <p:txBody>
          <a:bodyPr wrap="none">
            <a:spAutoFit/>
          </a:bodyPr>
          <a:lstStyle/>
          <a:p>
            <a:pPr algn="r">
              <a:defRPr sz="850" b="1">
                <a:solidFill>
                  <a:srgbClr val="0F2C59"/>
                </a:solidFill>
                <a:latin typeface="Arial"/>
              </a:defRPr>
            </a:pPr>
            <a:r>
              <a:t>Page 7 of 11</a:t>
            </a:r>
          </a:p>
        </p:txBody>
      </p:sp>
      <p:sp>
        <p:nvSpPr>
          <p:cNvPr id="9" name="Rounded Rectangle 8"/>
          <p:cNvSpPr/>
          <p:nvPr/>
        </p:nvSpPr>
        <p:spPr>
          <a:xfrm>
            <a:off x="731520" y="960120"/>
            <a:ext cx="4937760" cy="1508760"/>
          </a:xfrm>
          <a:prstGeom prst="round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Arial"/>
              </a:defRPr>
            </a:pPr>
            <a:r>
              <a:t>OFFICIAL RAILWAY &amp; PAYMENT INFRASTRUCTURE</a:t>
            </a:r>
          </a:p>
          <a:p>
            <a:pPr>
              <a:defRPr sz="900" b="1">
                <a:solidFill>
                  <a:srgbClr val="B9D9EB"/>
                </a:solidFill>
                <a:latin typeface="Arial"/>
              </a:defRPr>
            </a:pPr>
            <a:r>
              <a:t>IRCTC (Ticketing) | CRIS (PRS / NTES) | RailMadad | Bank Gateways</a:t>
            </a:r>
          </a:p>
          <a:p>
            <a:pPr>
              <a:defRPr sz="850">
                <a:solidFill>
                  <a:srgbClr val="FFFFFF"/>
                </a:solidFill>
                <a:latin typeface="Arial"/>
              </a:defRPr>
            </a:pPr>
            <a:r>
              <a:t>Authoritative sources for financial transactions, live train operations, seat inventory, refunds, and formal grievance resolution.</a:t>
            </a:r>
          </a:p>
        </p:txBody>
      </p:sp>
      <p:sp>
        <p:nvSpPr>
          <p:cNvPr id="10" name="TextBox 9"/>
          <p:cNvSpPr txBox="1"/>
          <p:nvPr/>
        </p:nvSpPr>
        <p:spPr>
          <a:xfrm>
            <a:off x="731520" y="2487168"/>
            <a:ext cx="4937760" cy="274320"/>
          </a:xfrm>
          <a:prstGeom prst="rect">
            <a:avLst/>
          </a:prstGeom>
          <a:noFill/>
        </p:spPr>
        <p:txBody>
          <a:bodyPr wrap="none">
            <a:spAutoFit/>
          </a:bodyPr>
          <a:lstStyle/>
          <a:p>
            <a:pPr algn="ctr">
              <a:defRPr sz="850" b="1">
                <a:solidFill>
                  <a:srgbClr val="1D6394"/>
                </a:solidFill>
                <a:latin typeface="Arial"/>
              </a:defRPr>
            </a:pPr>
            <a:r>
              <a:t>▲ Directs passengers to authoritative channels  |  Zero system override ▼</a:t>
            </a:r>
          </a:p>
        </p:txBody>
      </p:sp>
      <p:sp>
        <p:nvSpPr>
          <p:cNvPr id="11" name="Rounded Rectangle 10"/>
          <p:cNvSpPr/>
          <p:nvPr/>
        </p:nvSpPr>
        <p:spPr>
          <a:xfrm>
            <a:off x="731520" y="2788920"/>
            <a:ext cx="4937760" cy="1554480"/>
          </a:xfrm>
          <a:prstGeom prst="roundRect">
            <a:avLst/>
          </a:prstGeom>
          <a:solidFill>
            <a:srgbClr val="1D639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Arial"/>
              </a:defRPr>
            </a:pPr>
            <a:r>
              <a:t>INDEPENDENT ADVISORY LAYER (RAILSAHAYAK)</a:t>
            </a:r>
          </a:p>
          <a:p>
            <a:pPr>
              <a:defRPr sz="900" b="1">
                <a:solidFill>
                  <a:srgbClr val="DDF0F5"/>
                </a:solidFill>
                <a:latin typeface="Arial"/>
              </a:defRPr>
            </a:pPr>
            <a:r>
              <a:t>Procedural Guidance | Intake Structuring | Rule Explanations | Triage</a:t>
            </a:r>
          </a:p>
          <a:p>
            <a:pPr>
              <a:defRPr sz="850">
                <a:solidFill>
                  <a:srgbClr val="FFFFFF"/>
                </a:solidFill>
                <a:latin typeface="Arial"/>
              </a:defRPr>
            </a:pPr>
            <a:r>
              <a:t>• No live PRS integration claimed · No payment secrets in prototype scope</a:t>
            </a:r>
            <a:br/>
            <a:r>
              <a:t>• Explains procedural options &amp; directs users to official portals</a:t>
            </a:r>
            <a:br/>
            <a:r>
              <a:t>• Local prototype demonstrating structured assistance</a:t>
            </a:r>
          </a:p>
        </p:txBody>
      </p:sp>
      <p:sp>
        <p:nvSpPr>
          <p:cNvPr id="12" name="TextBox 11"/>
          <p:cNvSpPr txBox="1"/>
          <p:nvPr/>
        </p:nvSpPr>
        <p:spPr>
          <a:xfrm>
            <a:off x="731520" y="4361688"/>
            <a:ext cx="4937760" cy="274320"/>
          </a:xfrm>
          <a:prstGeom prst="rect">
            <a:avLst/>
          </a:prstGeom>
          <a:noFill/>
        </p:spPr>
        <p:txBody>
          <a:bodyPr wrap="none">
            <a:spAutoFit/>
          </a:bodyPr>
          <a:lstStyle/>
          <a:p>
            <a:pPr algn="ctr">
              <a:defRPr sz="850" b="1">
                <a:solidFill>
                  <a:srgbClr val="1D6394"/>
                </a:solidFill>
                <a:latin typeface="Arial"/>
              </a:defRPr>
            </a:pPr>
            <a:r>
              <a:t>▼ Intended to explore clearer procedural guidance (Unmeasured) ▼</a:t>
            </a:r>
          </a:p>
        </p:txBody>
      </p:sp>
      <p:sp>
        <p:nvSpPr>
          <p:cNvPr id="13" name="Rounded Rectangle 12"/>
          <p:cNvSpPr/>
          <p:nvPr/>
        </p:nvSpPr>
        <p:spPr>
          <a:xfrm>
            <a:off x="731520" y="4663440"/>
            <a:ext cx="4937760" cy="1417320"/>
          </a:xfrm>
          <a:prstGeom prst="roundRect">
            <a:avLst/>
          </a:prstGeom>
          <a:solidFill>
            <a:srgbClr val="DDF0F5"/>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2C59"/>
                </a:solidFill>
                <a:latin typeface="Arial"/>
              </a:defRPr>
            </a:pPr>
            <a:r>
              <a:t>POTENTIAL PASSENGER VALUE (INTENDED / UNMEASURED)</a:t>
            </a:r>
          </a:p>
          <a:p>
            <a:pPr>
              <a:defRPr sz="850">
                <a:solidFill>
                  <a:srgbClr val="1E293B"/>
                </a:solidFill>
                <a:latin typeface="Arial"/>
              </a:defRPr>
            </a:pPr>
            <a:r>
              <a:t>Explores whether structured guidance can help passengers navigate next steps during failed transactions or procedural questions before contacting official desks. Quantitative passenger benefits remain to be established through authorized evaluation.</a:t>
            </a:r>
          </a:p>
        </p:txBody>
      </p:sp>
      <p:sp>
        <p:nvSpPr>
          <p:cNvPr id="14" name="TextBox 13"/>
          <p:cNvSpPr txBox="1"/>
          <p:nvPr/>
        </p:nvSpPr>
        <p:spPr>
          <a:xfrm>
            <a:off x="5943600" y="960120"/>
            <a:ext cx="5486400" cy="457200"/>
          </a:xfrm>
          <a:prstGeom prst="rect">
            <a:avLst/>
          </a:prstGeom>
          <a:noFill/>
        </p:spPr>
        <p:txBody>
          <a:bodyPr wrap="none">
            <a:spAutoFit/>
          </a:bodyPr>
          <a:lstStyle/>
          <a:p>
            <a:pPr>
              <a:defRPr sz="2200" b="1">
                <a:solidFill>
                  <a:srgbClr val="0F2C59"/>
                </a:solidFill>
                <a:latin typeface="Arial"/>
              </a:defRPr>
            </a:pPr>
            <a:r>
              <a:t>RAILSAHAYAK IN THE ECOSYSTEM</a:t>
            </a:r>
          </a:p>
        </p:txBody>
      </p:sp>
      <p:sp>
        <p:nvSpPr>
          <p:cNvPr id="15" name="TextBox 14"/>
          <p:cNvSpPr txBox="1"/>
          <p:nvPr/>
        </p:nvSpPr>
        <p:spPr>
          <a:xfrm>
            <a:off x="5943600" y="1463040"/>
            <a:ext cx="5486400" cy="868680"/>
          </a:xfrm>
          <a:prstGeom prst="rect">
            <a:avLst/>
          </a:prstGeom>
          <a:noFill/>
        </p:spPr>
        <p:txBody>
          <a:bodyPr wrap="square">
            <a:spAutoFit/>
          </a:bodyPr>
          <a:lstStyle/>
          <a:p>
            <a:pPr>
              <a:defRPr sz="1050">
                <a:solidFill>
                  <a:srgbClr val="1E293B"/>
                </a:solidFill>
                <a:latin typeface="Arial"/>
              </a:defRPr>
            </a:pPr>
            <a:r>
              <a:t>RailSahayak is intended as a complementary, independent guidance layer. Official railway and payment systems remain the authoritative sources for transactions, operational status, refunds, and formal grievance resolution.</a:t>
            </a:r>
          </a:p>
        </p:txBody>
      </p:sp>
      <p:sp>
        <p:nvSpPr>
          <p:cNvPr id="16" name="Rounded Rectangle 15"/>
          <p:cNvSpPr/>
          <p:nvPr/>
        </p:nvSpPr>
        <p:spPr>
          <a:xfrm>
            <a:off x="5943600" y="2423160"/>
            <a:ext cx="5486400" cy="114300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2C59"/>
                </a:solidFill>
                <a:latin typeface="Arial"/>
              </a:defRPr>
            </a:pPr>
            <a:r>
              <a:t>01  OFFICIAL BOOKING SYSTEMS</a:t>
            </a:r>
          </a:p>
          <a:p>
            <a:pPr>
              <a:defRPr sz="850">
                <a:solidFill>
                  <a:srgbClr val="1E293B"/>
                </a:solidFill>
                <a:latin typeface="Arial"/>
              </a:defRPr>
            </a:pPr>
            <a:r>
              <a:t>Official: Handles authorized booking &amp; transaction execution.</a:t>
            </a:r>
          </a:p>
          <a:p>
            <a:pPr>
              <a:defRPr sz="850" b="1">
                <a:solidFill>
                  <a:srgbClr val="1D6394"/>
                </a:solidFill>
                <a:latin typeface="Arial"/>
              </a:defRPr>
            </a:pPr>
            <a:r>
              <a:t>RailSahayak Role: Explains selected procedures and guides users toward the relevant official process.</a:t>
            </a:r>
          </a:p>
        </p:txBody>
      </p:sp>
      <p:sp>
        <p:nvSpPr>
          <p:cNvPr id="17" name="Rounded Rectangle 16"/>
          <p:cNvSpPr/>
          <p:nvPr/>
        </p:nvSpPr>
        <p:spPr>
          <a:xfrm>
            <a:off x="5943600" y="3657600"/>
            <a:ext cx="5486400" cy="114300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2C59"/>
                </a:solidFill>
                <a:latin typeface="Arial"/>
              </a:defRPr>
            </a:pPr>
            <a:r>
              <a:t>02  OFFICIAL TRAIN INFORMATION</a:t>
            </a:r>
          </a:p>
          <a:p>
            <a:pPr>
              <a:defRPr sz="850">
                <a:solidFill>
                  <a:srgbClr val="1E293B"/>
                </a:solidFill>
                <a:latin typeface="Arial"/>
              </a:defRPr>
            </a:pPr>
            <a:r>
              <a:t>Official: Authoritative for live train running status &amp; operational updates.</a:t>
            </a:r>
          </a:p>
          <a:p>
            <a:pPr>
              <a:defRPr sz="850" b="1">
                <a:solidFill>
                  <a:srgbClr val="1D6394"/>
                </a:solidFill>
                <a:latin typeface="Arial"/>
              </a:defRPr>
            </a:pPr>
            <a:r>
              <a:t>RailSahayak Role: Explains where and how to check information without falsely claiming live access.</a:t>
            </a:r>
          </a:p>
        </p:txBody>
      </p:sp>
      <p:sp>
        <p:nvSpPr>
          <p:cNvPr id="18" name="Rounded Rectangle 17"/>
          <p:cNvSpPr/>
          <p:nvPr/>
        </p:nvSpPr>
        <p:spPr>
          <a:xfrm>
            <a:off x="5943600" y="4892040"/>
            <a:ext cx="5486400" cy="114300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2C59"/>
                </a:solidFill>
                <a:latin typeface="Arial"/>
              </a:defRPr>
            </a:pPr>
            <a:r>
              <a:t>03  OFFICIAL GRIEVANCE CHANNELS</a:t>
            </a:r>
          </a:p>
          <a:p>
            <a:pPr>
              <a:defRPr sz="850">
                <a:solidFill>
                  <a:srgbClr val="1E293B"/>
                </a:solidFill>
                <a:latin typeface="Arial"/>
              </a:defRPr>
            </a:pPr>
            <a:r>
              <a:t>Official: Responsible for established formal investigation &amp; dispute resolution.</a:t>
            </a:r>
          </a:p>
          <a:p>
            <a:pPr>
              <a:defRPr sz="850" b="1">
                <a:solidFill>
                  <a:srgbClr val="1D6394"/>
                </a:solidFill>
                <a:latin typeface="Arial"/>
              </a:defRPr>
            </a:pPr>
            <a:r>
              <a:t>RailSahayak Role: Organizes selected issue details and explains the next appropriate channel.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ailsahayak_logo.png"/>
          <p:cNvPicPr>
            <a:picLocks noChangeAspect="1"/>
          </p:cNvPicPr>
          <p:nvPr/>
        </p:nvPicPr>
        <p:blipFill>
          <a:blip r:embed="rId2"/>
          <a:stretch>
            <a:fillRect/>
          </a:stretch>
        </p:blipFill>
        <p:spPr>
          <a:xfrm>
            <a:off x="731520" y="320040"/>
            <a:ext cx="365760" cy="365760"/>
          </a:xfrm>
          <a:prstGeom prst="rect">
            <a:avLst/>
          </a:prstGeom>
        </p:spPr>
      </p:pic>
      <p:sp>
        <p:nvSpPr>
          <p:cNvPr id="4" name="TextBox 3"/>
          <p:cNvSpPr txBox="1"/>
          <p:nvPr/>
        </p:nvSpPr>
        <p:spPr>
          <a:xfrm>
            <a:off x="1170432" y="329184"/>
            <a:ext cx="5486400" cy="347472"/>
          </a:xfrm>
          <a:prstGeom prst="rect">
            <a:avLst/>
          </a:prstGeom>
          <a:noFill/>
        </p:spPr>
        <p:txBody>
          <a:bodyPr wrap="square">
            <a:spAutoFit/>
          </a:bodyPr>
          <a:lstStyle/>
          <a:p>
            <a:pPr>
              <a:defRPr sz="1000" b="1">
                <a:solidFill>
                  <a:srgbClr val="1D6394"/>
                </a:solidFill>
                <a:latin typeface="Arial"/>
              </a:defRPr>
            </a:pPr>
            <a:r>
              <a:t>RailSahayak  |  Institutional Alignment &amp; Adoption</a:t>
            </a:r>
          </a:p>
        </p:txBody>
      </p:sp>
      <p:sp>
        <p:nvSpPr>
          <p:cNvPr id="5" name="Rounded Rectangle 4"/>
          <p:cNvSpPr/>
          <p:nvPr/>
        </p:nvSpPr>
        <p:spPr>
          <a:xfrm>
            <a:off x="8961120" y="310896"/>
            <a:ext cx="2499055" cy="347472"/>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F2C59"/>
                </a:solidFill>
                <a:latin typeface="Arial"/>
              </a:defRPr>
            </a:pPr>
            <a:r>
              <a:t>ADOPTION FRAMEWORK</a:t>
            </a:r>
          </a:p>
        </p:txBody>
      </p:sp>
      <p:sp>
        <p:nvSpPr>
          <p:cNvPr id="6" name="Rectangle 5"/>
          <p:cNvSpPr/>
          <p:nvPr/>
        </p:nvSpPr>
        <p:spPr>
          <a:xfrm>
            <a:off x="731520" y="6446520"/>
            <a:ext cx="10728655" cy="12700"/>
          </a:xfrm>
          <a:prstGeom prst="rect">
            <a:avLst/>
          </a:prstGeom>
          <a:solidFill>
            <a:srgbClr val="C8D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6858000" cy="274320"/>
          </a:xfrm>
          <a:prstGeom prst="rect">
            <a:avLst/>
          </a:prstGeom>
          <a:noFill/>
        </p:spPr>
        <p:txBody>
          <a:bodyPr wrap="none">
            <a:spAutoFit/>
          </a:bodyPr>
          <a:lstStyle/>
          <a:p>
            <a:pPr>
              <a:defRPr sz="800">
                <a:solidFill>
                  <a:srgbClr val="526071"/>
                </a:solidFill>
                <a:latin typeface="Arial"/>
              </a:defRPr>
            </a:pPr>
            <a:r>
              <a:t>INDEPENDENT TECHNICAL PROPOSAL | NOT AN OFFICIAL IRCTC/CRIS/INDIAN RAILWAYS RELEASE</a:t>
            </a:r>
          </a:p>
        </p:txBody>
      </p:sp>
      <p:sp>
        <p:nvSpPr>
          <p:cNvPr id="8" name="TextBox 7"/>
          <p:cNvSpPr txBox="1"/>
          <p:nvPr/>
        </p:nvSpPr>
        <p:spPr>
          <a:xfrm>
            <a:off x="8716975" y="6492240"/>
            <a:ext cx="2743200" cy="274320"/>
          </a:xfrm>
          <a:prstGeom prst="rect">
            <a:avLst/>
          </a:prstGeom>
          <a:noFill/>
        </p:spPr>
        <p:txBody>
          <a:bodyPr wrap="none">
            <a:spAutoFit/>
          </a:bodyPr>
          <a:lstStyle/>
          <a:p>
            <a:pPr algn="r">
              <a:defRPr sz="850" b="1">
                <a:solidFill>
                  <a:srgbClr val="0F2C59"/>
                </a:solidFill>
                <a:latin typeface="Arial"/>
              </a:defRPr>
            </a:pPr>
            <a:r>
              <a:t>Page 8 of 11</a:t>
            </a:r>
          </a:p>
        </p:txBody>
      </p:sp>
      <p:sp>
        <p:nvSpPr>
          <p:cNvPr id="9" name="TextBox 8"/>
          <p:cNvSpPr txBox="1"/>
          <p:nvPr/>
        </p:nvSpPr>
        <p:spPr>
          <a:xfrm>
            <a:off x="731520" y="868680"/>
            <a:ext cx="5303520" cy="457200"/>
          </a:xfrm>
          <a:prstGeom prst="rect">
            <a:avLst/>
          </a:prstGeom>
          <a:noFill/>
        </p:spPr>
        <p:txBody>
          <a:bodyPr wrap="none">
            <a:spAutoFit/>
          </a:bodyPr>
          <a:lstStyle/>
          <a:p>
            <a:pPr>
              <a:defRPr sz="2200" b="1">
                <a:solidFill>
                  <a:srgbClr val="0F2C59"/>
                </a:solidFill>
                <a:latin typeface="Arial"/>
              </a:defRPr>
            </a:pPr>
            <a:r>
              <a:t>ENGAGEMENT &amp; ADOPTION STRATEGY</a:t>
            </a:r>
          </a:p>
        </p:txBody>
      </p:sp>
      <p:sp>
        <p:nvSpPr>
          <p:cNvPr id="10" name="TextBox 9"/>
          <p:cNvSpPr txBox="1"/>
          <p:nvPr/>
        </p:nvSpPr>
        <p:spPr>
          <a:xfrm>
            <a:off x="731520" y="1325880"/>
            <a:ext cx="5303520" cy="640080"/>
          </a:xfrm>
          <a:prstGeom prst="rect">
            <a:avLst/>
          </a:prstGeom>
          <a:noFill/>
        </p:spPr>
        <p:txBody>
          <a:bodyPr wrap="square">
            <a:spAutoFit/>
          </a:bodyPr>
          <a:lstStyle/>
          <a:p>
            <a:pPr>
              <a:defRPr sz="1050">
                <a:solidFill>
                  <a:srgbClr val="1E293B"/>
                </a:solidFill>
                <a:latin typeface="Arial"/>
              </a:defRPr>
            </a:pPr>
            <a:r>
              <a:t>The first priority is to establish technical credibility, validate guidance, and understand institutional requirements. Any future deployment or public-facing distribution would depend on the appropriate approvals and a clear operational model.</a:t>
            </a:r>
          </a:p>
        </p:txBody>
      </p:sp>
      <p:sp>
        <p:nvSpPr>
          <p:cNvPr id="11" name="Rounded Rectangle 10"/>
          <p:cNvSpPr/>
          <p:nvPr/>
        </p:nvSpPr>
        <p:spPr>
          <a:xfrm>
            <a:off x="731520" y="2057400"/>
            <a:ext cx="5303520" cy="91440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F2C59"/>
                </a:solidFill>
                <a:latin typeface="Arial"/>
              </a:defRPr>
            </a:pPr>
            <a:r>
              <a:t>Stage 01  |  TECHNICAL REVIEW</a:t>
            </a:r>
          </a:p>
          <a:p>
            <a:pPr>
              <a:defRPr sz="900">
                <a:solidFill>
                  <a:srgbClr val="1E293B"/>
                </a:solidFill>
                <a:latin typeface="Arial"/>
              </a:defRPr>
            </a:pPr>
            <a:r>
              <a:t>Share the prototype, explain its architecture, and invite feedback on implemented features, known limitations, and evidence.</a:t>
            </a:r>
          </a:p>
        </p:txBody>
      </p:sp>
      <p:sp>
        <p:nvSpPr>
          <p:cNvPr id="12" name="Rounded Rectangle 11"/>
          <p:cNvSpPr/>
          <p:nvPr/>
        </p:nvSpPr>
        <p:spPr>
          <a:xfrm>
            <a:off x="731520" y="3063240"/>
            <a:ext cx="5303520" cy="91440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F2C59"/>
                </a:solidFill>
                <a:latin typeface="Arial"/>
              </a:defRPr>
            </a:pPr>
            <a:r>
              <a:t>Stage 02  |  RULE VALIDATION</a:t>
            </a:r>
          </a:p>
          <a:p>
            <a:pPr>
              <a:defRPr sz="900">
                <a:solidFill>
                  <a:srgbClr val="1E293B"/>
                </a:solidFill>
                <a:latin typeface="Arial"/>
              </a:defRPr>
            </a:pPr>
            <a:r>
              <a:t>Request guidance on validating the railway-related procedural content against current authoritative sources.</a:t>
            </a:r>
          </a:p>
        </p:txBody>
      </p:sp>
      <p:sp>
        <p:nvSpPr>
          <p:cNvPr id="13" name="Rounded Rectangle 12"/>
          <p:cNvSpPr/>
          <p:nvPr/>
        </p:nvSpPr>
        <p:spPr>
          <a:xfrm>
            <a:off x="731520" y="4069080"/>
            <a:ext cx="5303520" cy="91440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F2C59"/>
                </a:solidFill>
                <a:latin typeface="Arial"/>
              </a:defRPr>
            </a:pPr>
            <a:r>
              <a:t>Stage 03  |  CONTROLLED EVALUATION</a:t>
            </a:r>
          </a:p>
          <a:p>
            <a:pPr>
              <a:defRPr sz="900">
                <a:solidFill>
                  <a:srgbClr val="1E293B"/>
                </a:solidFill>
                <a:latin typeface="Arial"/>
              </a:defRPr>
            </a:pPr>
            <a:r>
              <a:t>If stakeholders consider it appropriate, explore an authorized, limited evaluation with clearly defined scope and safeguards.</a:t>
            </a:r>
          </a:p>
        </p:txBody>
      </p:sp>
      <p:sp>
        <p:nvSpPr>
          <p:cNvPr id="14" name="Rounded Rectangle 13"/>
          <p:cNvSpPr/>
          <p:nvPr/>
        </p:nvSpPr>
        <p:spPr>
          <a:xfrm>
            <a:off x="731520" y="5074920"/>
            <a:ext cx="5303520" cy="91440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F2C59"/>
                </a:solidFill>
                <a:latin typeface="Arial"/>
              </a:defRPr>
            </a:pPr>
            <a:r>
              <a:t>Stage 04  |  FUTURE PATHWAY</a:t>
            </a:r>
          </a:p>
          <a:p>
            <a:pPr>
              <a:defRPr sz="900">
                <a:solidFill>
                  <a:srgbClr val="1E293B"/>
                </a:solidFill>
                <a:latin typeface="Arial"/>
              </a:defRPr>
            </a:pPr>
            <a:r>
              <a:t>Consider further development, mentorship, academic collaboration, licensing, or handover only if there is mutual interest and an appropriate institutional process.</a:t>
            </a:r>
          </a:p>
        </p:txBody>
      </p:sp>
      <p:sp>
        <p:nvSpPr>
          <p:cNvPr id="15" name="TextBox 14"/>
          <p:cNvSpPr txBox="1"/>
          <p:nvPr/>
        </p:nvSpPr>
        <p:spPr>
          <a:xfrm>
            <a:off x="731520" y="6080760"/>
            <a:ext cx="5303520" cy="320040"/>
          </a:xfrm>
          <a:prstGeom prst="rect">
            <a:avLst/>
          </a:prstGeom>
          <a:noFill/>
        </p:spPr>
        <p:txBody>
          <a:bodyPr wrap="none">
            <a:spAutoFit/>
          </a:bodyPr>
          <a:lstStyle/>
          <a:p>
            <a:pPr>
              <a:defRPr sz="850" i="1">
                <a:solidFill>
                  <a:srgbClr val="526071"/>
                </a:solidFill>
                <a:latin typeface="Arial"/>
              </a:defRPr>
            </a:pPr>
            <a:r>
              <a:t>Stakeholder engagement roadmap — not a claim of existing formal partnership.</a:t>
            </a:r>
          </a:p>
        </p:txBody>
      </p:sp>
      <p:sp>
        <p:nvSpPr>
          <p:cNvPr id="16" name="Rounded Rectangle 15"/>
          <p:cNvSpPr/>
          <p:nvPr/>
        </p:nvSpPr>
        <p:spPr>
          <a:xfrm>
            <a:off x="6309360" y="868680"/>
            <a:ext cx="5150815" cy="5257800"/>
          </a:xfrm>
          <a:prstGeom prst="roundRect">
            <a:avLst/>
          </a:prstGeom>
          <a:solidFill>
            <a:srgbClr val="F4F9FC"/>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ailway_pids_display.jpg"/>
          <p:cNvPicPr>
            <a:picLocks noChangeAspect="1"/>
          </p:cNvPicPr>
          <p:nvPr/>
        </p:nvPicPr>
        <p:blipFill>
          <a:blip r:embed="rId3"/>
          <a:stretch>
            <a:fillRect/>
          </a:stretch>
        </p:blipFill>
        <p:spPr>
          <a:xfrm>
            <a:off x="6492240" y="1051560"/>
            <a:ext cx="4785055" cy="4572000"/>
          </a:xfrm>
          <a:prstGeom prst="rect">
            <a:avLst/>
          </a:prstGeom>
        </p:spPr>
      </p:pic>
      <p:sp>
        <p:nvSpPr>
          <p:cNvPr id="18" name="TextBox 17"/>
          <p:cNvSpPr txBox="1"/>
          <p:nvPr/>
        </p:nvSpPr>
        <p:spPr>
          <a:xfrm>
            <a:off x="6492240" y="5715000"/>
            <a:ext cx="4785055" cy="320040"/>
          </a:xfrm>
          <a:prstGeom prst="rect">
            <a:avLst/>
          </a:prstGeom>
          <a:noFill/>
        </p:spPr>
        <p:txBody>
          <a:bodyPr wrap="none">
            <a:spAutoFit/>
          </a:bodyPr>
          <a:lstStyle/>
          <a:p>
            <a:pPr algn="ctr">
              <a:defRPr sz="850" b="1">
                <a:solidFill>
                  <a:srgbClr val="0F2C59"/>
                </a:solidFill>
                <a:latin typeface="Arial"/>
              </a:defRPr>
            </a:pPr>
            <a:r>
              <a:t>Passenger Information Display (PIDS)  |  Station Operational Feed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ailsahayak_logo.png"/>
          <p:cNvPicPr>
            <a:picLocks noChangeAspect="1"/>
          </p:cNvPicPr>
          <p:nvPr/>
        </p:nvPicPr>
        <p:blipFill>
          <a:blip r:embed="rId2"/>
          <a:stretch>
            <a:fillRect/>
          </a:stretch>
        </p:blipFill>
        <p:spPr>
          <a:xfrm>
            <a:off x="731520" y="320040"/>
            <a:ext cx="365760" cy="365760"/>
          </a:xfrm>
          <a:prstGeom prst="rect">
            <a:avLst/>
          </a:prstGeom>
        </p:spPr>
      </p:pic>
      <p:sp>
        <p:nvSpPr>
          <p:cNvPr id="4" name="TextBox 3"/>
          <p:cNvSpPr txBox="1"/>
          <p:nvPr/>
        </p:nvSpPr>
        <p:spPr>
          <a:xfrm>
            <a:off x="1170432" y="329184"/>
            <a:ext cx="5486400" cy="347472"/>
          </a:xfrm>
          <a:prstGeom prst="rect">
            <a:avLst/>
          </a:prstGeom>
          <a:noFill/>
        </p:spPr>
        <p:txBody>
          <a:bodyPr wrap="square">
            <a:spAutoFit/>
          </a:bodyPr>
          <a:lstStyle/>
          <a:p>
            <a:pPr>
              <a:defRPr sz="1000" b="1">
                <a:solidFill>
                  <a:srgbClr val="1D6394"/>
                </a:solidFill>
                <a:latin typeface="Arial"/>
              </a:defRPr>
            </a:pPr>
            <a:r>
              <a:t>RailSahayak  |  Phased Testing &amp; Evaluation</a:t>
            </a:r>
          </a:p>
        </p:txBody>
      </p:sp>
      <p:sp>
        <p:nvSpPr>
          <p:cNvPr id="5" name="Rounded Rectangle 4"/>
          <p:cNvSpPr/>
          <p:nvPr/>
        </p:nvSpPr>
        <p:spPr>
          <a:xfrm>
            <a:off x="8961120" y="310896"/>
            <a:ext cx="2499055" cy="347472"/>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F2C59"/>
                </a:solidFill>
                <a:latin typeface="Arial"/>
              </a:defRPr>
            </a:pPr>
            <a:r>
              <a:t>PROPOSED FRAMEWORK</a:t>
            </a:r>
          </a:p>
        </p:txBody>
      </p:sp>
      <p:sp>
        <p:nvSpPr>
          <p:cNvPr id="6" name="Rectangle 5"/>
          <p:cNvSpPr/>
          <p:nvPr/>
        </p:nvSpPr>
        <p:spPr>
          <a:xfrm>
            <a:off x="731520" y="6446520"/>
            <a:ext cx="10728655" cy="12700"/>
          </a:xfrm>
          <a:prstGeom prst="rect">
            <a:avLst/>
          </a:prstGeom>
          <a:solidFill>
            <a:srgbClr val="C8D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6858000" cy="274320"/>
          </a:xfrm>
          <a:prstGeom prst="rect">
            <a:avLst/>
          </a:prstGeom>
          <a:noFill/>
        </p:spPr>
        <p:txBody>
          <a:bodyPr wrap="none">
            <a:spAutoFit/>
          </a:bodyPr>
          <a:lstStyle/>
          <a:p>
            <a:pPr>
              <a:defRPr sz="800">
                <a:solidFill>
                  <a:srgbClr val="526071"/>
                </a:solidFill>
                <a:latin typeface="Arial"/>
              </a:defRPr>
            </a:pPr>
            <a:r>
              <a:t>INDEPENDENT TECHNICAL PROPOSAL | NOT AN OFFICIAL IRCTC/CRIS/INDIAN RAILWAYS RELEASE</a:t>
            </a:r>
          </a:p>
        </p:txBody>
      </p:sp>
      <p:sp>
        <p:nvSpPr>
          <p:cNvPr id="8" name="TextBox 7"/>
          <p:cNvSpPr txBox="1"/>
          <p:nvPr/>
        </p:nvSpPr>
        <p:spPr>
          <a:xfrm>
            <a:off x="8716975" y="6492240"/>
            <a:ext cx="2743200" cy="274320"/>
          </a:xfrm>
          <a:prstGeom prst="rect">
            <a:avLst/>
          </a:prstGeom>
          <a:noFill/>
        </p:spPr>
        <p:txBody>
          <a:bodyPr wrap="none">
            <a:spAutoFit/>
          </a:bodyPr>
          <a:lstStyle/>
          <a:p>
            <a:pPr algn="r">
              <a:defRPr sz="850" b="1">
                <a:solidFill>
                  <a:srgbClr val="0F2C59"/>
                </a:solidFill>
                <a:latin typeface="Arial"/>
              </a:defRPr>
            </a:pPr>
            <a:r>
              <a:t>Page 9 of 11</a:t>
            </a:r>
          </a:p>
        </p:txBody>
      </p:sp>
      <p:sp>
        <p:nvSpPr>
          <p:cNvPr id="9" name="TextBox 8"/>
          <p:cNvSpPr txBox="1"/>
          <p:nvPr/>
        </p:nvSpPr>
        <p:spPr>
          <a:xfrm>
            <a:off x="731520" y="868680"/>
            <a:ext cx="10728655" cy="411480"/>
          </a:xfrm>
          <a:prstGeom prst="rect">
            <a:avLst/>
          </a:prstGeom>
          <a:noFill/>
        </p:spPr>
        <p:txBody>
          <a:bodyPr wrap="none">
            <a:spAutoFit/>
          </a:bodyPr>
          <a:lstStyle/>
          <a:p>
            <a:pPr algn="ctr">
              <a:defRPr sz="2400" b="1">
                <a:solidFill>
                  <a:srgbClr val="0F2C59"/>
                </a:solidFill>
                <a:latin typeface="Arial"/>
              </a:defRPr>
            </a:pPr>
            <a:r>
              <a:t>IMPLEMENTATION &amp; EVALUATION PLAN</a:t>
            </a:r>
          </a:p>
        </p:txBody>
      </p:sp>
      <p:sp>
        <p:nvSpPr>
          <p:cNvPr id="10" name="TextBox 9"/>
          <p:cNvSpPr txBox="1"/>
          <p:nvPr/>
        </p:nvSpPr>
        <p:spPr>
          <a:xfrm>
            <a:off x="731520" y="1280160"/>
            <a:ext cx="10728655" cy="320040"/>
          </a:xfrm>
          <a:prstGeom prst="rect">
            <a:avLst/>
          </a:prstGeom>
          <a:noFill/>
        </p:spPr>
        <p:txBody>
          <a:bodyPr wrap="none">
            <a:spAutoFit/>
          </a:bodyPr>
          <a:lstStyle/>
          <a:p>
            <a:pPr algn="ctr">
              <a:defRPr sz="1000">
                <a:solidFill>
                  <a:srgbClr val="526071"/>
                </a:solidFill>
                <a:latin typeface="Arial"/>
              </a:defRPr>
            </a:pPr>
            <a:r>
              <a:t>Any further evaluation should proceed through explicit review stages. The sequence below is a proposed framework, not an approved Indian Railways schedule.</a:t>
            </a:r>
          </a:p>
        </p:txBody>
      </p:sp>
      <p:sp>
        <p:nvSpPr>
          <p:cNvPr id="11" name="Rounded Rectangle 10"/>
          <p:cNvSpPr/>
          <p:nvPr/>
        </p:nvSpPr>
        <p:spPr>
          <a:xfrm>
            <a:off x="731520" y="1691640"/>
            <a:ext cx="1965960" cy="182880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D6394"/>
                </a:solidFill>
                <a:latin typeface="Arial"/>
              </a:defRPr>
            </a:pPr>
            <a:r>
              <a:t>Stage 01</a:t>
            </a:r>
          </a:p>
          <a:p>
            <a:pPr>
              <a:defRPr sz="1000" b="1">
                <a:solidFill>
                  <a:srgbClr val="0F2C59"/>
                </a:solidFill>
                <a:latin typeface="Arial"/>
              </a:defRPr>
            </a:pPr>
            <a:r>
              <a:t>BASELINE REVIEW</a:t>
            </a:r>
          </a:p>
          <a:p>
            <a:pPr>
              <a:defRPr sz="850">
                <a:solidFill>
                  <a:srgbClr val="1E293B"/>
                </a:solidFill>
                <a:latin typeface="Arial"/>
              </a:defRPr>
            </a:pPr>
            <a:r>
              <a:t>Review source code, architecture, capabilities, limitations, and existing prototype evidence.</a:t>
            </a:r>
          </a:p>
        </p:txBody>
      </p:sp>
      <p:sp>
        <p:nvSpPr>
          <p:cNvPr id="12" name="Rounded Rectangle 11"/>
          <p:cNvSpPr/>
          <p:nvPr/>
        </p:nvSpPr>
        <p:spPr>
          <a:xfrm>
            <a:off x="2921508" y="1691640"/>
            <a:ext cx="1965960" cy="182880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D6394"/>
                </a:solidFill>
                <a:latin typeface="Arial"/>
              </a:defRPr>
            </a:pPr>
            <a:r>
              <a:t>Stage 02</a:t>
            </a:r>
          </a:p>
          <a:p>
            <a:pPr>
              <a:defRPr sz="1000" b="1">
                <a:solidFill>
                  <a:srgbClr val="0F2C59"/>
                </a:solidFill>
                <a:latin typeface="Arial"/>
              </a:defRPr>
            </a:pPr>
            <a:r>
              <a:t>RULE &amp; SECURITY</a:t>
            </a:r>
          </a:p>
          <a:p>
            <a:pPr>
              <a:defRPr sz="850">
                <a:solidFill>
                  <a:srgbClr val="1E293B"/>
                </a:solidFill>
                <a:latin typeface="Arial"/>
              </a:defRPr>
            </a:pPr>
            <a:r>
              <a:t>Validate procedural guidance, access control, privacy, logging, and security requirements.</a:t>
            </a:r>
          </a:p>
        </p:txBody>
      </p:sp>
      <p:sp>
        <p:nvSpPr>
          <p:cNvPr id="13" name="Rounded Rectangle 12"/>
          <p:cNvSpPr/>
          <p:nvPr/>
        </p:nvSpPr>
        <p:spPr>
          <a:xfrm>
            <a:off x="5111496" y="1691640"/>
            <a:ext cx="1965960" cy="182880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D6394"/>
                </a:solidFill>
                <a:latin typeface="Arial"/>
              </a:defRPr>
            </a:pPr>
            <a:r>
              <a:t>Stage 03</a:t>
            </a:r>
          </a:p>
          <a:p>
            <a:pPr>
              <a:defRPr sz="1000" b="1">
                <a:solidFill>
                  <a:srgbClr val="0F2C59"/>
                </a:solidFill>
                <a:latin typeface="Arial"/>
              </a:defRPr>
            </a:pPr>
            <a:r>
              <a:t>AUTHORIZED TESTING</a:t>
            </a:r>
          </a:p>
          <a:p>
            <a:pPr>
              <a:defRPr sz="850">
                <a:solidFill>
                  <a:srgbClr val="1E293B"/>
                </a:solidFill>
                <a:latin typeface="Arial"/>
              </a:defRPr>
            </a:pPr>
            <a:r>
              <a:t>If approved, test in an appropriate environment using authorized or simulated datasets.</a:t>
            </a:r>
          </a:p>
        </p:txBody>
      </p:sp>
      <p:sp>
        <p:nvSpPr>
          <p:cNvPr id="14" name="Rounded Rectangle 13"/>
          <p:cNvSpPr/>
          <p:nvPr/>
        </p:nvSpPr>
        <p:spPr>
          <a:xfrm>
            <a:off x="7301483" y="1691640"/>
            <a:ext cx="1965960" cy="182880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D6394"/>
                </a:solidFill>
                <a:latin typeface="Arial"/>
              </a:defRPr>
            </a:pPr>
            <a:r>
              <a:t>Stage 04</a:t>
            </a:r>
          </a:p>
          <a:p>
            <a:pPr>
              <a:defRPr sz="1000" b="1">
                <a:solidFill>
                  <a:srgbClr val="0F2C59"/>
                </a:solidFill>
                <a:latin typeface="Arial"/>
              </a:defRPr>
            </a:pPr>
            <a:r>
              <a:t>LIMITED EVALUATION</a:t>
            </a:r>
          </a:p>
          <a:p>
            <a:pPr>
              <a:defRPr sz="850">
                <a:solidFill>
                  <a:srgbClr val="1E293B"/>
                </a:solidFill>
                <a:latin typeface="Arial"/>
              </a:defRPr>
            </a:pPr>
            <a:r>
              <a:t>If separately authorized, evaluate bounded use cases with defined safeguards and metrics.</a:t>
            </a:r>
          </a:p>
        </p:txBody>
      </p:sp>
      <p:sp>
        <p:nvSpPr>
          <p:cNvPr id="15" name="Rounded Rectangle 14"/>
          <p:cNvSpPr/>
          <p:nvPr/>
        </p:nvSpPr>
        <p:spPr>
          <a:xfrm>
            <a:off x="9491472" y="1691640"/>
            <a:ext cx="1965960" cy="182880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D6394"/>
                </a:solidFill>
                <a:latin typeface="Arial"/>
              </a:defRPr>
            </a:pPr>
            <a:r>
              <a:t>Stage 05</a:t>
            </a:r>
          </a:p>
          <a:p>
            <a:pPr>
              <a:defRPr sz="1000" b="1">
                <a:solidFill>
                  <a:srgbClr val="0F2C59"/>
                </a:solidFill>
                <a:latin typeface="Arial"/>
              </a:defRPr>
            </a:pPr>
            <a:r>
              <a:t>REVIEW &amp; DECISION</a:t>
            </a:r>
          </a:p>
          <a:p>
            <a:pPr>
              <a:defRPr sz="850">
                <a:solidFill>
                  <a:srgbClr val="1E293B"/>
                </a:solidFill>
                <a:latin typeface="Arial"/>
              </a:defRPr>
            </a:pPr>
            <a:r>
              <a:t>Use evaluation evidence to decide whether to improve, extend, transfer, or discontinue.</a:t>
            </a:r>
          </a:p>
        </p:txBody>
      </p:sp>
      <p:sp>
        <p:nvSpPr>
          <p:cNvPr id="16" name="Rounded Rectangle 15"/>
          <p:cNvSpPr/>
          <p:nvPr/>
        </p:nvSpPr>
        <p:spPr>
          <a:xfrm>
            <a:off x="731520" y="3703320"/>
            <a:ext cx="10728655" cy="2560320"/>
          </a:xfrm>
          <a:prstGeom prst="roundRect">
            <a:avLst/>
          </a:prstGeom>
          <a:solidFill>
            <a:srgbClr val="F4F9FC"/>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ailway_infrastructure_panorama.jpg"/>
          <p:cNvPicPr>
            <a:picLocks noChangeAspect="1"/>
          </p:cNvPicPr>
          <p:nvPr/>
        </p:nvPicPr>
        <p:blipFill>
          <a:blip r:embed="rId3"/>
          <a:stretch>
            <a:fillRect/>
          </a:stretch>
        </p:blipFill>
        <p:spPr>
          <a:xfrm>
            <a:off x="868680" y="3794760"/>
            <a:ext cx="10454335" cy="2148840"/>
          </a:xfrm>
          <a:prstGeom prst="rect">
            <a:avLst/>
          </a:prstGeom>
        </p:spPr>
      </p:pic>
      <p:sp>
        <p:nvSpPr>
          <p:cNvPr id="18" name="TextBox 17"/>
          <p:cNvSpPr txBox="1"/>
          <p:nvPr/>
        </p:nvSpPr>
        <p:spPr>
          <a:xfrm>
            <a:off x="868680" y="5989320"/>
            <a:ext cx="10454335" cy="228600"/>
          </a:xfrm>
          <a:prstGeom prst="rect">
            <a:avLst/>
          </a:prstGeom>
          <a:noFill/>
        </p:spPr>
        <p:txBody>
          <a:bodyPr wrap="none">
            <a:spAutoFit/>
          </a:bodyPr>
          <a:lstStyle/>
          <a:p>
            <a:pPr algn="ctr">
              <a:defRPr sz="850" b="1">
                <a:solidFill>
                  <a:srgbClr val="0F2C59"/>
                </a:solidFill>
                <a:latin typeface="Arial"/>
              </a:defRPr>
            </a:pPr>
            <a:r>
              <a:t>Modern Indian Railway Track &amp; Catenary Infrastructure  |  Proposed Phased Evaluation Framework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ailsahayak_logo.png"/>
          <p:cNvPicPr>
            <a:picLocks noChangeAspect="1"/>
          </p:cNvPicPr>
          <p:nvPr/>
        </p:nvPicPr>
        <p:blipFill>
          <a:blip r:embed="rId2"/>
          <a:stretch>
            <a:fillRect/>
          </a:stretch>
        </p:blipFill>
        <p:spPr>
          <a:xfrm>
            <a:off x="731520" y="320040"/>
            <a:ext cx="365760" cy="365760"/>
          </a:xfrm>
          <a:prstGeom prst="rect">
            <a:avLst/>
          </a:prstGeom>
        </p:spPr>
      </p:pic>
      <p:sp>
        <p:nvSpPr>
          <p:cNvPr id="4" name="TextBox 3"/>
          <p:cNvSpPr txBox="1"/>
          <p:nvPr/>
        </p:nvSpPr>
        <p:spPr>
          <a:xfrm>
            <a:off x="1170432" y="329184"/>
            <a:ext cx="5486400" cy="347472"/>
          </a:xfrm>
          <a:prstGeom prst="rect">
            <a:avLst/>
          </a:prstGeom>
          <a:noFill/>
        </p:spPr>
        <p:txBody>
          <a:bodyPr wrap="square">
            <a:spAutoFit/>
          </a:bodyPr>
          <a:lstStyle/>
          <a:p>
            <a:pPr>
              <a:defRPr sz="1000" b="1">
                <a:solidFill>
                  <a:srgbClr val="1D6394"/>
                </a:solidFill>
                <a:latin typeface="Arial"/>
              </a:defRPr>
            </a:pPr>
            <a:r>
              <a:t>RailSahayak  |  Summary &amp; Request for Guidance</a:t>
            </a:r>
          </a:p>
        </p:txBody>
      </p:sp>
      <p:sp>
        <p:nvSpPr>
          <p:cNvPr id="5" name="Rounded Rectangle 4"/>
          <p:cNvSpPr/>
          <p:nvPr/>
        </p:nvSpPr>
        <p:spPr>
          <a:xfrm>
            <a:off x="8961120" y="310896"/>
            <a:ext cx="2499055" cy="347472"/>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F2C59"/>
                </a:solidFill>
                <a:latin typeface="Arial"/>
              </a:defRPr>
            </a:pPr>
            <a:r>
              <a:t>NEXT STEPS</a:t>
            </a:r>
          </a:p>
        </p:txBody>
      </p:sp>
      <p:sp>
        <p:nvSpPr>
          <p:cNvPr id="6" name="Rectangle 5"/>
          <p:cNvSpPr/>
          <p:nvPr/>
        </p:nvSpPr>
        <p:spPr>
          <a:xfrm>
            <a:off x="731520" y="6446520"/>
            <a:ext cx="10728655" cy="12700"/>
          </a:xfrm>
          <a:prstGeom prst="rect">
            <a:avLst/>
          </a:prstGeom>
          <a:solidFill>
            <a:srgbClr val="C8D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92240"/>
            <a:ext cx="6858000" cy="274320"/>
          </a:xfrm>
          <a:prstGeom prst="rect">
            <a:avLst/>
          </a:prstGeom>
          <a:noFill/>
        </p:spPr>
        <p:txBody>
          <a:bodyPr wrap="none">
            <a:spAutoFit/>
          </a:bodyPr>
          <a:lstStyle/>
          <a:p>
            <a:pPr>
              <a:defRPr sz="800">
                <a:solidFill>
                  <a:srgbClr val="526071"/>
                </a:solidFill>
                <a:latin typeface="Arial"/>
              </a:defRPr>
            </a:pPr>
            <a:r>
              <a:t>INDEPENDENT TECHNICAL PROPOSAL | NOT AN OFFICIAL IRCTC/CRIS/INDIAN RAILWAYS RELEASE</a:t>
            </a:r>
          </a:p>
        </p:txBody>
      </p:sp>
      <p:sp>
        <p:nvSpPr>
          <p:cNvPr id="8" name="TextBox 7"/>
          <p:cNvSpPr txBox="1"/>
          <p:nvPr/>
        </p:nvSpPr>
        <p:spPr>
          <a:xfrm>
            <a:off x="8716975" y="6492240"/>
            <a:ext cx="2743200" cy="274320"/>
          </a:xfrm>
          <a:prstGeom prst="rect">
            <a:avLst/>
          </a:prstGeom>
          <a:noFill/>
        </p:spPr>
        <p:txBody>
          <a:bodyPr wrap="none">
            <a:spAutoFit/>
          </a:bodyPr>
          <a:lstStyle/>
          <a:p>
            <a:pPr algn="r">
              <a:defRPr sz="850" b="1">
                <a:solidFill>
                  <a:srgbClr val="0F2C59"/>
                </a:solidFill>
                <a:latin typeface="Arial"/>
              </a:defRPr>
            </a:pPr>
            <a:r>
              <a:t>Page 10 of 11</a:t>
            </a:r>
          </a:p>
        </p:txBody>
      </p:sp>
      <p:sp>
        <p:nvSpPr>
          <p:cNvPr id="9" name="TextBox 8"/>
          <p:cNvSpPr txBox="1"/>
          <p:nvPr/>
        </p:nvSpPr>
        <p:spPr>
          <a:xfrm>
            <a:off x="731520" y="868680"/>
            <a:ext cx="10728655" cy="411480"/>
          </a:xfrm>
          <a:prstGeom prst="rect">
            <a:avLst/>
          </a:prstGeom>
          <a:noFill/>
        </p:spPr>
        <p:txBody>
          <a:bodyPr wrap="none">
            <a:spAutoFit/>
          </a:bodyPr>
          <a:lstStyle/>
          <a:p>
            <a:pPr>
              <a:defRPr sz="2400" b="1">
                <a:solidFill>
                  <a:srgbClr val="0F2C59"/>
                </a:solidFill>
                <a:latin typeface="Arial"/>
              </a:defRPr>
            </a:pPr>
            <a:r>
              <a:t>CONCLUSION &amp; NEXT STEPS</a:t>
            </a:r>
          </a:p>
        </p:txBody>
      </p:sp>
      <p:sp>
        <p:nvSpPr>
          <p:cNvPr id="10" name="Rounded Rectangle 9"/>
          <p:cNvSpPr/>
          <p:nvPr/>
        </p:nvSpPr>
        <p:spPr>
          <a:xfrm>
            <a:off x="731520" y="1325880"/>
            <a:ext cx="10728655" cy="498348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05840" y="1508760"/>
            <a:ext cx="10180015" cy="1417320"/>
          </a:xfrm>
          <a:prstGeom prst="roundRect">
            <a:avLst/>
          </a:prstGeom>
          <a:solidFill>
            <a:srgbClr val="FFFFFF"/>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2C59"/>
                </a:solidFill>
                <a:latin typeface="Arial"/>
              </a:defRPr>
            </a:pPr>
            <a:r>
              <a:t>THE PROPOSAL</a:t>
            </a:r>
          </a:p>
          <a:p>
            <a:pPr>
              <a:defRPr sz="950">
                <a:solidFill>
                  <a:srgbClr val="1E293B"/>
                </a:solidFill>
                <a:latin typeface="Arial"/>
              </a:defRPr>
            </a:pPr>
            <a:r>
              <a:t>RailSahayak presents an independent software prototype exploring how selected railway passenger questions can be organized into clearer guidance, structured issue capture, and appropriate official-channel direction.</a:t>
            </a:r>
          </a:p>
          <a:p>
            <a:pPr>
              <a:defRPr sz="950">
                <a:solidFill>
                  <a:srgbClr val="1E293B"/>
                </a:solidFill>
                <a:latin typeface="Arial"/>
              </a:defRPr>
            </a:pPr>
            <a:r>
              <a:t>Its current value should be judged by the capabilities demonstrated in the actual prototype, the accuracy of its guidance, the quality of its implementation, and the transparency of its limitations.</a:t>
            </a:r>
          </a:p>
        </p:txBody>
      </p:sp>
      <p:sp>
        <p:nvSpPr>
          <p:cNvPr id="12" name="Rounded Rectangle 11"/>
          <p:cNvSpPr/>
          <p:nvPr/>
        </p:nvSpPr>
        <p:spPr>
          <a:xfrm>
            <a:off x="1005840" y="3063240"/>
            <a:ext cx="10180015" cy="1645920"/>
          </a:xfrm>
          <a:prstGeom prst="roundRect">
            <a:avLst/>
          </a:prstGeom>
          <a:solidFill>
            <a:srgbClr val="FFFFFF"/>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2C59"/>
                </a:solidFill>
                <a:latin typeface="Arial"/>
              </a:defRPr>
            </a:pPr>
            <a:r>
              <a:t>THE REQUEST &amp; COLLABORATION PATHWAY</a:t>
            </a:r>
          </a:p>
          <a:p>
            <a:pPr>
              <a:defRPr sz="950">
                <a:solidFill>
                  <a:srgbClr val="1E293B"/>
                </a:solidFill>
                <a:latin typeface="Arial"/>
              </a:defRPr>
            </a:pPr>
            <a:r>
              <a:t>We respectfully invite relevant technical stakeholders to review the concept and provide guidance on procedural accuracy, security expectations, authorized testing requirements, and possible future development.</a:t>
            </a:r>
          </a:p>
          <a:p>
            <a:pPr>
              <a:defRPr sz="950" b="1">
                <a:solidFill>
                  <a:srgbClr val="1D6394"/>
                </a:solidFill>
                <a:latin typeface="Arial"/>
              </a:defRPr>
            </a:pPr>
            <a:r>
              <a:t>If an existing railway system should not be replaced or changed, RailSahayak could still be considered for complementary evaluation, subject to technical, legal, and institutional review. Technical mentorship, skill-development guidance, further development, or a possible handover arrangement may also be discussed if appropriate.</a:t>
            </a:r>
          </a:p>
        </p:txBody>
      </p:sp>
      <p:sp>
        <p:nvSpPr>
          <p:cNvPr id="13" name="Rounded Rectangle 12"/>
          <p:cNvSpPr/>
          <p:nvPr/>
        </p:nvSpPr>
        <p:spPr>
          <a:xfrm>
            <a:off x="1005840" y="4846320"/>
            <a:ext cx="10180015" cy="1234440"/>
          </a:xfrm>
          <a:prstGeom prst="round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B9D9EB"/>
                </a:solidFill>
                <a:latin typeface="Arial"/>
              </a:defRPr>
            </a:pPr>
            <a:r>
              <a:t>THREE CONCRETE NEXT STEPS</a:t>
            </a:r>
          </a:p>
          <a:p>
            <a:pPr>
              <a:defRPr sz="950">
                <a:solidFill>
                  <a:srgbClr val="FFFFFF"/>
                </a:solidFill>
                <a:latin typeface="Arial"/>
              </a:defRPr>
            </a:pPr>
            <a:r>
              <a:t>1. Review the current prototype and its evidence.</a:t>
            </a:r>
            <a:br/>
            <a:r>
              <a:t>2. Identify required corrections and institutional prerequisites.</a:t>
            </a:r>
            <a:br/>
            <a:r>
              <a:t>3. Decide whether any further evaluation is appropriate.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ailsahayak_logo.png"/>
          <p:cNvPicPr>
            <a:picLocks noChangeAspect="1"/>
          </p:cNvPicPr>
          <p:nvPr/>
        </p:nvPicPr>
        <p:blipFill>
          <a:blip r:embed="rId2"/>
          <a:stretch>
            <a:fillRect/>
          </a:stretch>
        </p:blipFill>
        <p:spPr>
          <a:xfrm>
            <a:off x="731520" y="548640"/>
            <a:ext cx="502920" cy="502920"/>
          </a:xfrm>
          <a:prstGeom prst="rect">
            <a:avLst/>
          </a:prstGeom>
        </p:spPr>
      </p:pic>
      <p:sp>
        <p:nvSpPr>
          <p:cNvPr id="4" name="TextBox 3"/>
          <p:cNvSpPr txBox="1"/>
          <p:nvPr/>
        </p:nvSpPr>
        <p:spPr>
          <a:xfrm>
            <a:off x="1325880" y="594360"/>
            <a:ext cx="4114800" cy="365760"/>
          </a:xfrm>
          <a:prstGeom prst="rect">
            <a:avLst/>
          </a:prstGeom>
          <a:noFill/>
        </p:spPr>
        <p:txBody>
          <a:bodyPr wrap="none">
            <a:spAutoFit/>
          </a:bodyPr>
          <a:lstStyle/>
          <a:p>
            <a:pPr>
              <a:defRPr sz="1100" b="1">
                <a:solidFill>
                  <a:srgbClr val="0F2C59"/>
                </a:solidFill>
                <a:latin typeface="Arial"/>
              </a:defRPr>
            </a:pPr>
            <a:r>
              <a:t>RailSahayak | Independent Technical Exploration</a:t>
            </a:r>
          </a:p>
        </p:txBody>
      </p:sp>
      <p:sp>
        <p:nvSpPr>
          <p:cNvPr id="5" name="TextBox 4"/>
          <p:cNvSpPr txBox="1"/>
          <p:nvPr/>
        </p:nvSpPr>
        <p:spPr>
          <a:xfrm>
            <a:off x="731520" y="1508760"/>
            <a:ext cx="5120640" cy="914400"/>
          </a:xfrm>
          <a:prstGeom prst="rect">
            <a:avLst/>
          </a:prstGeom>
          <a:noFill/>
        </p:spPr>
        <p:txBody>
          <a:bodyPr wrap="none">
            <a:spAutoFit/>
          </a:bodyPr>
          <a:lstStyle/>
          <a:p>
            <a:pPr>
              <a:defRPr sz="4600" b="1">
                <a:solidFill>
                  <a:srgbClr val="0F2C59"/>
                </a:solidFill>
                <a:latin typeface="Arial"/>
              </a:defRPr>
            </a:pPr>
            <a:r>
              <a:t>THANK YOU</a:t>
            </a:r>
          </a:p>
        </p:txBody>
      </p:sp>
      <p:sp>
        <p:nvSpPr>
          <p:cNvPr id="6" name="TextBox 5"/>
          <p:cNvSpPr txBox="1"/>
          <p:nvPr/>
        </p:nvSpPr>
        <p:spPr>
          <a:xfrm>
            <a:off x="731520" y="2423160"/>
            <a:ext cx="5120640" cy="457200"/>
          </a:xfrm>
          <a:prstGeom prst="rect">
            <a:avLst/>
          </a:prstGeom>
          <a:noFill/>
        </p:spPr>
        <p:txBody>
          <a:bodyPr wrap="none">
            <a:spAutoFit/>
          </a:bodyPr>
          <a:lstStyle/>
          <a:p>
            <a:pPr>
              <a:defRPr sz="2000" b="1">
                <a:solidFill>
                  <a:srgbClr val="1D6394"/>
                </a:solidFill>
                <a:latin typeface="Arial"/>
              </a:defRPr>
            </a:pPr>
            <a:r>
              <a:t>RAILSAHAYAK</a:t>
            </a:r>
          </a:p>
        </p:txBody>
      </p:sp>
      <p:sp>
        <p:nvSpPr>
          <p:cNvPr id="7" name="TextBox 6"/>
          <p:cNvSpPr txBox="1"/>
          <p:nvPr/>
        </p:nvSpPr>
        <p:spPr>
          <a:xfrm>
            <a:off x="731520" y="2880360"/>
            <a:ext cx="5120640" cy="457200"/>
          </a:xfrm>
          <a:prstGeom prst="rect">
            <a:avLst/>
          </a:prstGeom>
          <a:noFill/>
        </p:spPr>
        <p:txBody>
          <a:bodyPr wrap="square">
            <a:spAutoFit/>
          </a:bodyPr>
          <a:lstStyle/>
          <a:p>
            <a:pPr>
              <a:defRPr sz="1300">
                <a:solidFill>
                  <a:srgbClr val="1E293B"/>
                </a:solidFill>
                <a:latin typeface="Arial"/>
              </a:defRPr>
            </a:pPr>
            <a:r>
              <a:t>Passenger Assistance &amp; Railway Service Support Proposal</a:t>
            </a:r>
          </a:p>
        </p:txBody>
      </p:sp>
      <p:sp>
        <p:nvSpPr>
          <p:cNvPr id="8" name="Rectangle 7"/>
          <p:cNvSpPr/>
          <p:nvPr/>
        </p:nvSpPr>
        <p:spPr>
          <a:xfrm>
            <a:off x="731520" y="3429000"/>
            <a:ext cx="5120640" cy="25400"/>
          </a:xfrm>
          <a:prstGeom prst="rect">
            <a:avLst/>
          </a:prstGeom>
          <a:solidFill>
            <a:srgbClr val="2B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611880"/>
            <a:ext cx="5120640" cy="1097280"/>
          </a:xfrm>
          <a:prstGeom prst="rect">
            <a:avLst/>
          </a:prstGeom>
          <a:noFill/>
        </p:spPr>
        <p:txBody>
          <a:bodyPr wrap="square">
            <a:spAutoFit/>
          </a:bodyPr>
          <a:lstStyle/>
          <a:p>
            <a:pPr>
              <a:defRPr sz="1300" b="1">
                <a:solidFill>
                  <a:srgbClr val="0F2C59"/>
                </a:solidFill>
                <a:latin typeface="Arial"/>
              </a:defRPr>
            </a:pPr>
            <a:r>
              <a:t>Request for Technical Review and Guidance</a:t>
            </a:r>
          </a:p>
          <a:p>
            <a:pPr>
              <a:defRPr sz="1100">
                <a:solidFill>
                  <a:srgbClr val="1E293B"/>
                </a:solidFill>
                <a:latin typeface="Arial"/>
              </a:defRPr>
            </a:pPr>
            <a:r>
              <a:t>An independent prototype presented for constructive feedback and possible future evaluation.</a:t>
            </a:r>
          </a:p>
        </p:txBody>
      </p:sp>
      <p:sp>
        <p:nvSpPr>
          <p:cNvPr id="10" name="Rounded Rectangle 9"/>
          <p:cNvSpPr/>
          <p:nvPr/>
        </p:nvSpPr>
        <p:spPr>
          <a:xfrm>
            <a:off x="731520" y="4892040"/>
            <a:ext cx="5120640" cy="1234440"/>
          </a:xfrm>
          <a:prstGeom prst="roundRect">
            <a:avLst/>
          </a:prstGeom>
          <a:solidFill>
            <a:srgbClr val="DDF0F5"/>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2C59"/>
                </a:solidFill>
                <a:latin typeface="Arial"/>
              </a:defRPr>
            </a:pPr>
            <a:r>
              <a:t>STAKEHOLDER EXPLORATION SESSION</a:t>
            </a:r>
          </a:p>
          <a:p>
            <a:pPr>
              <a:defRPr sz="850">
                <a:solidFill>
                  <a:srgbClr val="1E293B"/>
                </a:solidFill>
                <a:latin typeface="Arial"/>
              </a:defRPr>
            </a:pPr>
            <a:r>
              <a:t>Presented for technical evaluation and institutional guidance.</a:t>
            </a:r>
            <a:br/>
            <a:r>
              <a:t>Project materials and technical evidence can be prepared for review.</a:t>
            </a:r>
            <a:br/>
            <a:r>
              <a:t>October 2026</a:t>
            </a:r>
          </a:p>
        </p:txBody>
      </p:sp>
      <p:sp>
        <p:nvSpPr>
          <p:cNvPr id="11" name="Rounded Rectangle 10"/>
          <p:cNvSpPr/>
          <p:nvPr/>
        </p:nvSpPr>
        <p:spPr>
          <a:xfrm>
            <a:off x="6126480" y="731520"/>
            <a:ext cx="5333695" cy="5394960"/>
          </a:xfrm>
          <a:prstGeom prst="roundRect">
            <a:avLst/>
          </a:prstGeom>
          <a:solidFill>
            <a:srgbClr val="EBF5FA"/>
          </a:solidFill>
          <a:ln w="12700">
            <a:solidFill>
              <a:srgbClr val="C8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ailway_cover_train.jpg"/>
          <p:cNvPicPr>
            <a:picLocks noChangeAspect="1"/>
          </p:cNvPicPr>
          <p:nvPr/>
        </p:nvPicPr>
        <p:blipFill>
          <a:blip r:embed="rId3"/>
          <a:stretch>
            <a:fillRect/>
          </a:stretch>
        </p:blipFill>
        <p:spPr>
          <a:xfrm>
            <a:off x="6309360" y="914400"/>
            <a:ext cx="4967935" cy="4663440"/>
          </a:xfrm>
          <a:prstGeom prst="rect">
            <a:avLst/>
          </a:prstGeom>
        </p:spPr>
      </p:pic>
      <p:sp>
        <p:nvSpPr>
          <p:cNvPr id="13" name="TextBox 12"/>
          <p:cNvSpPr txBox="1"/>
          <p:nvPr/>
        </p:nvSpPr>
        <p:spPr>
          <a:xfrm>
            <a:off x="6309360" y="5623560"/>
            <a:ext cx="4967935" cy="365760"/>
          </a:xfrm>
          <a:prstGeom prst="rect">
            <a:avLst/>
          </a:prstGeom>
          <a:noFill/>
        </p:spPr>
        <p:txBody>
          <a:bodyPr wrap="none">
            <a:spAutoFit/>
          </a:bodyPr>
          <a:lstStyle/>
          <a:p>
            <a:pPr algn="ctr">
              <a:defRPr sz="850" b="1">
                <a:solidFill>
                  <a:srgbClr val="0F2C59"/>
                </a:solidFill>
                <a:latin typeface="Arial"/>
              </a:defRPr>
            </a:pPr>
            <a:r>
              <a:t>Dedicated to Passenger Assistance &amp; Railway Service Support</a:t>
            </a:r>
          </a:p>
        </p:txBody>
      </p:sp>
      <p:sp>
        <p:nvSpPr>
          <p:cNvPr id="14" name="TextBox 13"/>
          <p:cNvSpPr txBox="1"/>
          <p:nvPr/>
        </p:nvSpPr>
        <p:spPr>
          <a:xfrm>
            <a:off x="731520" y="6492240"/>
            <a:ext cx="10728655" cy="274320"/>
          </a:xfrm>
          <a:prstGeom prst="rect">
            <a:avLst/>
          </a:prstGeom>
          <a:noFill/>
        </p:spPr>
        <p:txBody>
          <a:bodyPr wrap="none">
            <a:spAutoFit/>
          </a:bodyPr>
          <a:lstStyle/>
          <a:p>
            <a:pPr>
              <a:defRPr sz="800">
                <a:solidFill>
                  <a:srgbClr val="526071"/>
                </a:solidFill>
                <a:latin typeface="Arial"/>
              </a:defRPr>
            </a:pPr>
            <a:r>
              <a:t>Independent Prototype  |  No Official Railway Endorsement Claimed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